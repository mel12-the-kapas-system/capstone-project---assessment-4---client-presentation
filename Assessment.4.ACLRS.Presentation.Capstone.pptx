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3" r:id="rId3"/>
    <p:sldId id="270" r:id="rId4"/>
    <p:sldId id="271" r:id="rId5"/>
    <p:sldId id="272" r:id="rId6"/>
    <p:sldId id="283" r:id="rId7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63B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98A9A"/>
                </a:solidFill>
                <a:latin typeface="Arial MT"/>
                <a:cs typeface="Arial MT"/>
              </a:defRPr>
            </a:lvl1pPr>
          </a:lstStyle>
          <a:p>
            <a:pPr marL="6540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63B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98A9A"/>
                </a:solidFill>
                <a:latin typeface="Arial MT"/>
                <a:cs typeface="Arial MT"/>
              </a:defRPr>
            </a:lvl1pPr>
          </a:lstStyle>
          <a:p>
            <a:pPr marL="6540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63B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98A9A"/>
                </a:solidFill>
                <a:latin typeface="Arial MT"/>
                <a:cs typeface="Arial MT"/>
              </a:defRPr>
            </a:lvl1pPr>
          </a:lstStyle>
          <a:p>
            <a:pPr marL="6540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63B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98A9A"/>
                </a:solidFill>
                <a:latin typeface="Arial MT"/>
                <a:cs typeface="Arial MT"/>
              </a:defRPr>
            </a:lvl1pPr>
          </a:lstStyle>
          <a:p>
            <a:pPr marL="6540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98A9A"/>
                </a:solidFill>
                <a:latin typeface="Arial MT"/>
                <a:cs typeface="Arial MT"/>
              </a:defRPr>
            </a:lvl1pPr>
          </a:lstStyle>
          <a:p>
            <a:pPr marL="6540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20" y="564896"/>
            <a:ext cx="801179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63B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0222" y="1516266"/>
            <a:ext cx="10558780" cy="3498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9681" y="6509898"/>
            <a:ext cx="16954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798A9A"/>
                </a:solidFill>
                <a:latin typeface="Arial MT"/>
                <a:cs typeface="Arial MT"/>
              </a:defRPr>
            </a:lvl1pPr>
          </a:lstStyle>
          <a:p>
            <a:pPr marL="6540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20" y="308457"/>
            <a:ext cx="205486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DELIVERABLES,</a:t>
            </a:r>
            <a:r>
              <a:rPr sz="800" b="1" spc="8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BUDGET</a:t>
            </a:r>
            <a:r>
              <a:rPr sz="800" b="1" spc="8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&amp;</a:t>
            </a:r>
            <a:r>
              <a:rPr sz="800" b="1" spc="85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0A6B2"/>
                </a:solidFill>
                <a:latin typeface="Arial"/>
                <a:cs typeface="Arial"/>
              </a:rPr>
              <a:t>SCHEDULE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Gantt</a:t>
            </a:r>
            <a:r>
              <a:rPr spc="-45" dirty="0"/>
              <a:t> </a:t>
            </a:r>
            <a:r>
              <a:rPr dirty="0"/>
              <a:t>Chart</a:t>
            </a:r>
            <a:r>
              <a:rPr spc="-40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Project</a:t>
            </a:r>
            <a:r>
              <a:rPr spc="-40" dirty="0"/>
              <a:t> </a:t>
            </a:r>
            <a:r>
              <a:rPr spc="-10" dirty="0"/>
              <a:t>Timeline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2919" y="1072641"/>
            <a:ext cx="11201400" cy="5049520"/>
            <a:chOff x="502919" y="1072641"/>
            <a:chExt cx="11201400" cy="5049520"/>
          </a:xfrm>
        </p:grpSpPr>
        <p:sp>
          <p:nvSpPr>
            <p:cNvPr id="5" name="object 5"/>
            <p:cNvSpPr/>
            <p:nvPr/>
          </p:nvSpPr>
          <p:spPr>
            <a:xfrm>
              <a:off x="502919" y="1078991"/>
              <a:ext cx="11201400" cy="0"/>
            </a:xfrm>
            <a:custGeom>
              <a:avLst/>
              <a:gdLst/>
              <a:ahLst/>
              <a:cxnLst/>
              <a:rect l="l" t="t" r="r" b="b"/>
              <a:pathLst>
                <a:path w="11201400">
                  <a:moveTo>
                    <a:pt x="0" y="0"/>
                  </a:moveTo>
                  <a:lnTo>
                    <a:pt x="11201399" y="0"/>
                  </a:lnTo>
                </a:path>
              </a:pathLst>
            </a:custGeom>
            <a:ln w="12699">
              <a:solidFill>
                <a:srgbClr val="D7E4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099" y="1079000"/>
              <a:ext cx="7443599" cy="504292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065080" y="6197701"/>
            <a:ext cx="203327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solidFill>
                  <a:srgbClr val="5E6B79"/>
                </a:solidFill>
                <a:latin typeface="Arial"/>
                <a:cs typeface="Arial"/>
              </a:rPr>
              <a:t>12-week</a:t>
            </a:r>
            <a:r>
              <a:rPr sz="850" b="1" spc="8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5E6B79"/>
                </a:solidFill>
                <a:latin typeface="Arial"/>
                <a:cs typeface="Arial"/>
              </a:rPr>
              <a:t>schedule</a:t>
            </a:r>
            <a:r>
              <a:rPr sz="850" b="1" spc="7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5E6B79"/>
                </a:solidFill>
                <a:latin typeface="Arial"/>
                <a:cs typeface="Arial"/>
              </a:rPr>
              <a:t>from</a:t>
            </a:r>
            <a:r>
              <a:rPr sz="850" b="1" spc="35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5E6B79"/>
                </a:solidFill>
                <a:latin typeface="Arial"/>
                <a:cs typeface="Arial"/>
              </a:rPr>
              <a:t>Assessment</a:t>
            </a:r>
            <a:r>
              <a:rPr sz="850" b="1" spc="80" dirty="0">
                <a:solidFill>
                  <a:srgbClr val="5E6B79"/>
                </a:solidFill>
                <a:latin typeface="Arial"/>
                <a:cs typeface="Arial"/>
              </a:rPr>
              <a:t> </a:t>
            </a:r>
            <a:r>
              <a:rPr sz="850" b="1" spc="-50" dirty="0">
                <a:solidFill>
                  <a:srgbClr val="5E6B79"/>
                </a:solidFill>
                <a:latin typeface="Arial"/>
                <a:cs typeface="Arial"/>
              </a:rPr>
              <a:t>2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490220" y="6569610"/>
            <a:ext cx="1688464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50" b="1" dirty="0">
                <a:solidFill>
                  <a:srgbClr val="798A9A"/>
                </a:solidFill>
                <a:latin typeface="Arial"/>
                <a:cs typeface="Arial"/>
              </a:rPr>
              <a:t>DELIVERABLES,</a:t>
            </a:r>
            <a:r>
              <a:rPr sz="650" b="1" spc="60" dirty="0">
                <a:solidFill>
                  <a:srgbClr val="798A9A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798A9A"/>
                </a:solidFill>
                <a:latin typeface="Arial"/>
                <a:cs typeface="Arial"/>
              </a:rPr>
              <a:t>BUDGET</a:t>
            </a:r>
            <a:r>
              <a:rPr sz="650" b="1" spc="60" dirty="0">
                <a:solidFill>
                  <a:srgbClr val="798A9A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798A9A"/>
                </a:solidFill>
                <a:latin typeface="Arial"/>
                <a:cs typeface="Arial"/>
              </a:rPr>
              <a:t>&amp;</a:t>
            </a:r>
            <a:r>
              <a:rPr sz="650" b="1" spc="60" dirty="0">
                <a:solidFill>
                  <a:srgbClr val="798A9A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798A9A"/>
                </a:solidFill>
                <a:latin typeface="Arial"/>
                <a:cs typeface="Arial"/>
              </a:rPr>
              <a:t>SCHEDULE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20" y="308457"/>
            <a:ext cx="142176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REQUIREMENTS</a:t>
            </a:r>
            <a:r>
              <a:rPr sz="800" b="1" spc="11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0A6B2"/>
                </a:solidFill>
                <a:latin typeface="Arial"/>
                <a:cs typeface="Arial"/>
              </a:rPr>
              <a:t>ANALYSIS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Functional</a:t>
            </a:r>
            <a:r>
              <a:rPr spc="-70" dirty="0"/>
              <a:t> </a:t>
            </a:r>
            <a:r>
              <a:rPr spc="-10" dirty="0"/>
              <a:t>Requirements</a:t>
            </a:r>
            <a:r>
              <a:rPr spc="-70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System</a:t>
            </a:r>
            <a:r>
              <a:rPr spc="-70" dirty="0"/>
              <a:t> </a:t>
            </a:r>
            <a:r>
              <a:rPr spc="-10" dirty="0"/>
              <a:t>Coverage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078991"/>
            <a:ext cx="11201400" cy="0"/>
          </a:xfrm>
          <a:custGeom>
            <a:avLst/>
            <a:gdLst/>
            <a:ahLst/>
            <a:cxnLst/>
            <a:rect l="l" t="t" r="r" b="b"/>
            <a:pathLst>
              <a:path w="11201400">
                <a:moveTo>
                  <a:pt x="0" y="0"/>
                </a:moveTo>
                <a:lnTo>
                  <a:pt x="11201399" y="0"/>
                </a:lnTo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1234439"/>
            <a:ext cx="5166360" cy="1097280"/>
          </a:xfrm>
          <a:custGeom>
            <a:avLst/>
            <a:gdLst/>
            <a:ahLst/>
            <a:cxnLst/>
            <a:rect l="l" t="t" r="r" b="b"/>
            <a:pathLst>
              <a:path w="5166360" h="1097280">
                <a:moveTo>
                  <a:pt x="0" y="73155"/>
                </a:moveTo>
                <a:lnTo>
                  <a:pt x="5748" y="44680"/>
                </a:lnTo>
                <a:lnTo>
                  <a:pt x="21426" y="21426"/>
                </a:lnTo>
                <a:lnTo>
                  <a:pt x="44680" y="5748"/>
                </a:lnTo>
                <a:lnTo>
                  <a:pt x="73155" y="0"/>
                </a:lnTo>
                <a:lnTo>
                  <a:pt x="5093204" y="0"/>
                </a:lnTo>
                <a:lnTo>
                  <a:pt x="5133791" y="12291"/>
                </a:lnTo>
                <a:lnTo>
                  <a:pt x="5160791" y="45160"/>
                </a:lnTo>
                <a:lnTo>
                  <a:pt x="5166359" y="73155"/>
                </a:lnTo>
                <a:lnTo>
                  <a:pt x="5166359" y="1024124"/>
                </a:lnTo>
                <a:lnTo>
                  <a:pt x="5160611" y="1052599"/>
                </a:lnTo>
                <a:lnTo>
                  <a:pt x="5144933" y="1075853"/>
                </a:lnTo>
                <a:lnTo>
                  <a:pt x="5121679" y="1091531"/>
                </a:lnTo>
                <a:lnTo>
                  <a:pt x="5093204" y="1097279"/>
                </a:lnTo>
                <a:lnTo>
                  <a:pt x="73155" y="1097279"/>
                </a:lnTo>
                <a:lnTo>
                  <a:pt x="44680" y="1091531"/>
                </a:lnTo>
                <a:lnTo>
                  <a:pt x="21426" y="1075853"/>
                </a:lnTo>
                <a:lnTo>
                  <a:pt x="5748" y="1052599"/>
                </a:lnTo>
                <a:lnTo>
                  <a:pt x="0" y="1024124"/>
                </a:lnTo>
                <a:lnTo>
                  <a:pt x="0" y="73155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7691" y="1367535"/>
            <a:ext cx="12731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Access</a:t>
            </a:r>
            <a:r>
              <a:rPr sz="1300" b="1" spc="-4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&amp;</a:t>
            </a:r>
            <a:r>
              <a:rPr sz="1300" b="1" spc="-4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Users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6588" y="1396491"/>
            <a:ext cx="5759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B76D1"/>
                </a:solidFill>
                <a:latin typeface="Arial"/>
                <a:cs typeface="Arial"/>
              </a:rPr>
              <a:t>FR1–</a:t>
            </a:r>
            <a:r>
              <a:rPr sz="1000" b="1" spc="-25" dirty="0">
                <a:solidFill>
                  <a:srgbClr val="1B76D1"/>
                </a:solidFill>
                <a:latin typeface="Arial"/>
                <a:cs typeface="Arial"/>
              </a:rPr>
              <a:t>FR6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691" y="1813052"/>
            <a:ext cx="27863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Registration,</a:t>
            </a:r>
            <a:r>
              <a:rPr sz="1050" spc="-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login,</a:t>
            </a:r>
            <a:r>
              <a:rPr sz="1050" spc="-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MFA,</a:t>
            </a:r>
            <a:r>
              <a:rPr sz="1050" spc="-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RBAC,</a:t>
            </a:r>
            <a:r>
              <a:rPr sz="1050" spc="-3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user</a:t>
            </a:r>
            <a:r>
              <a:rPr sz="1050" spc="-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accounts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5079" y="1234439"/>
            <a:ext cx="5166360" cy="1097280"/>
          </a:xfrm>
          <a:custGeom>
            <a:avLst/>
            <a:gdLst/>
            <a:ahLst/>
            <a:cxnLst/>
            <a:rect l="l" t="t" r="r" b="b"/>
            <a:pathLst>
              <a:path w="5166359" h="1097280">
                <a:moveTo>
                  <a:pt x="0" y="73155"/>
                </a:moveTo>
                <a:lnTo>
                  <a:pt x="5748" y="44680"/>
                </a:lnTo>
                <a:lnTo>
                  <a:pt x="21426" y="21426"/>
                </a:lnTo>
                <a:lnTo>
                  <a:pt x="44680" y="5748"/>
                </a:lnTo>
                <a:lnTo>
                  <a:pt x="73155" y="0"/>
                </a:lnTo>
                <a:lnTo>
                  <a:pt x="5093204" y="0"/>
                </a:lnTo>
                <a:lnTo>
                  <a:pt x="5133791" y="12291"/>
                </a:lnTo>
                <a:lnTo>
                  <a:pt x="5160791" y="45160"/>
                </a:lnTo>
                <a:lnTo>
                  <a:pt x="5166359" y="73155"/>
                </a:lnTo>
                <a:lnTo>
                  <a:pt x="5166359" y="1024124"/>
                </a:lnTo>
                <a:lnTo>
                  <a:pt x="5160611" y="1052599"/>
                </a:lnTo>
                <a:lnTo>
                  <a:pt x="5144933" y="1075853"/>
                </a:lnTo>
                <a:lnTo>
                  <a:pt x="5121679" y="1091531"/>
                </a:lnTo>
                <a:lnTo>
                  <a:pt x="5093204" y="1097279"/>
                </a:lnTo>
                <a:lnTo>
                  <a:pt x="73155" y="1097279"/>
                </a:lnTo>
                <a:lnTo>
                  <a:pt x="44680" y="1091531"/>
                </a:lnTo>
                <a:lnTo>
                  <a:pt x="21426" y="1075853"/>
                </a:lnTo>
                <a:lnTo>
                  <a:pt x="5748" y="1052599"/>
                </a:lnTo>
                <a:lnTo>
                  <a:pt x="0" y="1024124"/>
                </a:lnTo>
                <a:lnTo>
                  <a:pt x="0" y="73155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06972" y="1367535"/>
            <a:ext cx="15297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Patient</a:t>
            </a:r>
            <a:r>
              <a:rPr sz="130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&amp;</a:t>
            </a:r>
            <a:r>
              <a:rPr sz="130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Requests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95264" y="1396491"/>
            <a:ext cx="646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B76D1"/>
                </a:solidFill>
                <a:latin typeface="Arial"/>
                <a:cs typeface="Arial"/>
              </a:rPr>
              <a:t>FR7–</a:t>
            </a:r>
            <a:r>
              <a:rPr sz="1000" b="1" spc="-20" dirty="0">
                <a:solidFill>
                  <a:srgbClr val="1B76D1"/>
                </a:solidFill>
                <a:latin typeface="Arial"/>
                <a:cs typeface="Arial"/>
              </a:rPr>
              <a:t>FR16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06972" y="1813052"/>
            <a:ext cx="37852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Patient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records,</a:t>
            </a:r>
            <a:r>
              <a:rPr sz="1050" spc="-2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duplicate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detection,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referrals,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request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validation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800" y="2743200"/>
            <a:ext cx="5166360" cy="1097280"/>
          </a:xfrm>
          <a:custGeom>
            <a:avLst/>
            <a:gdLst/>
            <a:ahLst/>
            <a:cxnLst/>
            <a:rect l="l" t="t" r="r" b="b"/>
            <a:pathLst>
              <a:path w="5166360" h="1097279">
                <a:moveTo>
                  <a:pt x="0" y="73155"/>
                </a:moveTo>
                <a:lnTo>
                  <a:pt x="5748" y="44680"/>
                </a:lnTo>
                <a:lnTo>
                  <a:pt x="21426" y="21426"/>
                </a:lnTo>
                <a:lnTo>
                  <a:pt x="44680" y="5748"/>
                </a:lnTo>
                <a:lnTo>
                  <a:pt x="73155" y="0"/>
                </a:lnTo>
                <a:lnTo>
                  <a:pt x="5093204" y="0"/>
                </a:lnTo>
                <a:lnTo>
                  <a:pt x="5133791" y="12291"/>
                </a:lnTo>
                <a:lnTo>
                  <a:pt x="5160791" y="45160"/>
                </a:lnTo>
                <a:lnTo>
                  <a:pt x="5166359" y="73155"/>
                </a:lnTo>
                <a:lnTo>
                  <a:pt x="5166359" y="1024124"/>
                </a:lnTo>
                <a:lnTo>
                  <a:pt x="5160611" y="1052599"/>
                </a:lnTo>
                <a:lnTo>
                  <a:pt x="5144933" y="1075853"/>
                </a:lnTo>
                <a:lnTo>
                  <a:pt x="5121679" y="1091531"/>
                </a:lnTo>
                <a:lnTo>
                  <a:pt x="5093204" y="1097279"/>
                </a:lnTo>
                <a:lnTo>
                  <a:pt x="73155" y="1097279"/>
                </a:lnTo>
                <a:lnTo>
                  <a:pt x="44680" y="1091531"/>
                </a:lnTo>
                <a:lnTo>
                  <a:pt x="21426" y="1075853"/>
                </a:lnTo>
                <a:lnTo>
                  <a:pt x="5748" y="1052599"/>
                </a:lnTo>
                <a:lnTo>
                  <a:pt x="0" y="1024124"/>
                </a:lnTo>
                <a:lnTo>
                  <a:pt x="0" y="73155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7691" y="2876296"/>
            <a:ext cx="804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Specimen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55381" y="2905252"/>
            <a:ext cx="717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B76D1"/>
                </a:solidFill>
                <a:latin typeface="Arial"/>
                <a:cs typeface="Arial"/>
              </a:rPr>
              <a:t>FR17–</a:t>
            </a:r>
            <a:r>
              <a:rPr sz="1000" b="1" spc="-20" dirty="0">
                <a:solidFill>
                  <a:srgbClr val="1B76D1"/>
                </a:solidFill>
                <a:latin typeface="Arial"/>
                <a:cs typeface="Arial"/>
              </a:rPr>
              <a:t>FR24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7691" y="3321811"/>
            <a:ext cx="37560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Registration,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barcode,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collection,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tracking,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acceptance/rejection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55079" y="2743200"/>
            <a:ext cx="5166360" cy="1097280"/>
          </a:xfrm>
          <a:custGeom>
            <a:avLst/>
            <a:gdLst/>
            <a:ahLst/>
            <a:cxnLst/>
            <a:rect l="l" t="t" r="r" b="b"/>
            <a:pathLst>
              <a:path w="5166359" h="1097279">
                <a:moveTo>
                  <a:pt x="0" y="73155"/>
                </a:moveTo>
                <a:lnTo>
                  <a:pt x="5748" y="44680"/>
                </a:lnTo>
                <a:lnTo>
                  <a:pt x="21426" y="21426"/>
                </a:lnTo>
                <a:lnTo>
                  <a:pt x="44680" y="5748"/>
                </a:lnTo>
                <a:lnTo>
                  <a:pt x="73155" y="0"/>
                </a:lnTo>
                <a:lnTo>
                  <a:pt x="5093204" y="0"/>
                </a:lnTo>
                <a:lnTo>
                  <a:pt x="5133791" y="12291"/>
                </a:lnTo>
                <a:lnTo>
                  <a:pt x="5160791" y="45160"/>
                </a:lnTo>
                <a:lnTo>
                  <a:pt x="5166359" y="73155"/>
                </a:lnTo>
                <a:lnTo>
                  <a:pt x="5166359" y="1024124"/>
                </a:lnTo>
                <a:lnTo>
                  <a:pt x="5160611" y="1052599"/>
                </a:lnTo>
                <a:lnTo>
                  <a:pt x="5144933" y="1075853"/>
                </a:lnTo>
                <a:lnTo>
                  <a:pt x="5121679" y="1091531"/>
                </a:lnTo>
                <a:lnTo>
                  <a:pt x="5093204" y="1097279"/>
                </a:lnTo>
                <a:lnTo>
                  <a:pt x="73155" y="1097279"/>
                </a:lnTo>
                <a:lnTo>
                  <a:pt x="44680" y="1091531"/>
                </a:lnTo>
                <a:lnTo>
                  <a:pt x="21426" y="1075853"/>
                </a:lnTo>
                <a:lnTo>
                  <a:pt x="5748" y="1052599"/>
                </a:lnTo>
                <a:lnTo>
                  <a:pt x="0" y="1024124"/>
                </a:lnTo>
                <a:lnTo>
                  <a:pt x="0" y="73155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06972" y="2876296"/>
            <a:ext cx="12357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Lab</a:t>
            </a:r>
            <a:r>
              <a:rPr sz="1300" b="1" spc="-4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Operations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24661" y="2905252"/>
            <a:ext cx="717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B76D1"/>
                </a:solidFill>
                <a:latin typeface="Arial"/>
                <a:cs typeface="Arial"/>
              </a:rPr>
              <a:t>FR25–</a:t>
            </a:r>
            <a:r>
              <a:rPr sz="1000" b="1" spc="-20" dirty="0">
                <a:solidFill>
                  <a:srgbClr val="1B76D1"/>
                </a:solidFill>
                <a:latin typeface="Arial"/>
                <a:cs typeface="Arial"/>
              </a:rPr>
              <a:t>FR35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06972" y="3321811"/>
            <a:ext cx="40239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Worklists,</a:t>
            </a:r>
            <a:r>
              <a:rPr sz="1050" spc="-3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assignments,</a:t>
            </a:r>
            <a:r>
              <a:rPr sz="1050" spc="-2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result</a:t>
            </a:r>
            <a:r>
              <a:rPr sz="1050" spc="-3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entry,</a:t>
            </a:r>
            <a:r>
              <a:rPr sz="1050" spc="-2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import,</a:t>
            </a:r>
            <a:r>
              <a:rPr sz="1050" spc="-3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validation,</a:t>
            </a:r>
            <a:r>
              <a:rPr sz="1050" spc="-2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authorisation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800" y="4251959"/>
            <a:ext cx="5166360" cy="1097280"/>
          </a:xfrm>
          <a:custGeom>
            <a:avLst/>
            <a:gdLst/>
            <a:ahLst/>
            <a:cxnLst/>
            <a:rect l="l" t="t" r="r" b="b"/>
            <a:pathLst>
              <a:path w="5166360" h="1097279">
                <a:moveTo>
                  <a:pt x="0" y="73155"/>
                </a:moveTo>
                <a:lnTo>
                  <a:pt x="5748" y="44680"/>
                </a:lnTo>
                <a:lnTo>
                  <a:pt x="21426" y="21426"/>
                </a:lnTo>
                <a:lnTo>
                  <a:pt x="44680" y="5748"/>
                </a:lnTo>
                <a:lnTo>
                  <a:pt x="73155" y="0"/>
                </a:lnTo>
                <a:lnTo>
                  <a:pt x="5093204" y="0"/>
                </a:lnTo>
                <a:lnTo>
                  <a:pt x="5133791" y="12291"/>
                </a:lnTo>
                <a:lnTo>
                  <a:pt x="5160791" y="45160"/>
                </a:lnTo>
                <a:lnTo>
                  <a:pt x="5166359" y="73155"/>
                </a:lnTo>
                <a:lnTo>
                  <a:pt x="5166359" y="1024124"/>
                </a:lnTo>
                <a:lnTo>
                  <a:pt x="5160611" y="1052599"/>
                </a:lnTo>
                <a:lnTo>
                  <a:pt x="5144933" y="1075853"/>
                </a:lnTo>
                <a:lnTo>
                  <a:pt x="5121679" y="1091531"/>
                </a:lnTo>
                <a:lnTo>
                  <a:pt x="5093204" y="1097279"/>
                </a:lnTo>
                <a:lnTo>
                  <a:pt x="73155" y="1097279"/>
                </a:lnTo>
                <a:lnTo>
                  <a:pt x="44680" y="1091531"/>
                </a:lnTo>
                <a:lnTo>
                  <a:pt x="21426" y="1075853"/>
                </a:lnTo>
                <a:lnTo>
                  <a:pt x="5748" y="1052599"/>
                </a:lnTo>
                <a:lnTo>
                  <a:pt x="0" y="1024124"/>
                </a:lnTo>
                <a:lnTo>
                  <a:pt x="0" y="73155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7691" y="4385055"/>
            <a:ext cx="14192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Reports</a:t>
            </a:r>
            <a:r>
              <a:rPr sz="1300" b="1" spc="-4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&amp;</a:t>
            </a:r>
            <a:r>
              <a:rPr sz="1300" b="1" spc="-4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Portals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55381" y="4414011"/>
            <a:ext cx="717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B76D1"/>
                </a:solidFill>
                <a:latin typeface="Arial"/>
                <a:cs typeface="Arial"/>
              </a:rPr>
              <a:t>FR36–</a:t>
            </a:r>
            <a:r>
              <a:rPr sz="1000" b="1" spc="-20" dirty="0">
                <a:solidFill>
                  <a:srgbClr val="1B76D1"/>
                </a:solidFill>
                <a:latin typeface="Arial"/>
                <a:cs typeface="Arial"/>
              </a:rPr>
              <a:t>FR47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7691" y="4830572"/>
            <a:ext cx="4096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Clinical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comments,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reports,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distribution,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patient/clinician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portals,</a:t>
            </a:r>
            <a:r>
              <a:rPr sz="1050" spc="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audit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55079" y="4251959"/>
            <a:ext cx="5166360" cy="1097280"/>
          </a:xfrm>
          <a:custGeom>
            <a:avLst/>
            <a:gdLst/>
            <a:ahLst/>
            <a:cxnLst/>
            <a:rect l="l" t="t" r="r" b="b"/>
            <a:pathLst>
              <a:path w="5166359" h="1097279">
                <a:moveTo>
                  <a:pt x="0" y="73155"/>
                </a:moveTo>
                <a:lnTo>
                  <a:pt x="5748" y="44680"/>
                </a:lnTo>
                <a:lnTo>
                  <a:pt x="21426" y="21426"/>
                </a:lnTo>
                <a:lnTo>
                  <a:pt x="44680" y="5748"/>
                </a:lnTo>
                <a:lnTo>
                  <a:pt x="73155" y="0"/>
                </a:lnTo>
                <a:lnTo>
                  <a:pt x="5093204" y="0"/>
                </a:lnTo>
                <a:lnTo>
                  <a:pt x="5133791" y="12291"/>
                </a:lnTo>
                <a:lnTo>
                  <a:pt x="5160791" y="45160"/>
                </a:lnTo>
                <a:lnTo>
                  <a:pt x="5166359" y="73155"/>
                </a:lnTo>
                <a:lnTo>
                  <a:pt x="5166359" y="1024124"/>
                </a:lnTo>
                <a:lnTo>
                  <a:pt x="5160611" y="1052599"/>
                </a:lnTo>
                <a:lnTo>
                  <a:pt x="5144933" y="1075853"/>
                </a:lnTo>
                <a:lnTo>
                  <a:pt x="5121679" y="1091531"/>
                </a:lnTo>
                <a:lnTo>
                  <a:pt x="5093204" y="1097279"/>
                </a:lnTo>
                <a:lnTo>
                  <a:pt x="73155" y="1097279"/>
                </a:lnTo>
                <a:lnTo>
                  <a:pt x="44680" y="1091531"/>
                </a:lnTo>
                <a:lnTo>
                  <a:pt x="21426" y="1075853"/>
                </a:lnTo>
                <a:lnTo>
                  <a:pt x="5748" y="1052599"/>
                </a:lnTo>
                <a:lnTo>
                  <a:pt x="0" y="1024124"/>
                </a:lnTo>
                <a:lnTo>
                  <a:pt x="0" y="73155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506972" y="4385055"/>
            <a:ext cx="15386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Enhanced</a:t>
            </a:r>
            <a:r>
              <a:rPr sz="130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Services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490220" y="6569610"/>
            <a:ext cx="116903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50" b="1" dirty="0">
                <a:solidFill>
                  <a:srgbClr val="798A9A"/>
                </a:solidFill>
                <a:latin typeface="Arial"/>
                <a:cs typeface="Arial"/>
              </a:rPr>
              <a:t>REQUIREMENTS</a:t>
            </a:r>
            <a:r>
              <a:rPr sz="650" b="1" spc="135" dirty="0">
                <a:solidFill>
                  <a:srgbClr val="798A9A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798A9A"/>
                </a:solidFill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24661" y="4414011"/>
            <a:ext cx="717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B76D1"/>
                </a:solidFill>
                <a:latin typeface="Arial"/>
                <a:cs typeface="Arial"/>
              </a:rPr>
              <a:t>FR48–</a:t>
            </a:r>
            <a:r>
              <a:rPr sz="1000" b="1" spc="-20" dirty="0">
                <a:solidFill>
                  <a:srgbClr val="1B76D1"/>
                </a:solidFill>
                <a:latin typeface="Arial"/>
                <a:cs typeface="Arial"/>
              </a:rPr>
              <a:t>FR67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06972" y="4830572"/>
            <a:ext cx="43256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Bookings,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payments,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reminders,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inventory,</a:t>
            </a:r>
            <a:r>
              <a:rPr sz="1050" spc="-1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roster,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feedback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and</a:t>
            </a:r>
            <a:r>
              <a:rPr sz="1050" spc="-1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recovery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44341" y="5903468"/>
            <a:ext cx="78670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063B66"/>
                </a:solidFill>
                <a:latin typeface="Arial"/>
                <a:cs typeface="Arial"/>
              </a:rPr>
              <a:t>Traceability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is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maintained</a:t>
            </a:r>
            <a:r>
              <a:rPr sz="135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from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FR</a:t>
            </a:r>
            <a:r>
              <a:rPr sz="135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UI</a:t>
            </a:r>
            <a:r>
              <a:rPr sz="135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DFD/Sequence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35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ERD/Data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Dictionary</a:t>
            </a:r>
            <a:r>
              <a:rPr sz="135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350" b="1" spc="-3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063B66"/>
                </a:solidFill>
                <a:latin typeface="Arial"/>
                <a:cs typeface="Arial"/>
              </a:rPr>
              <a:t>Test</a:t>
            </a:r>
            <a:r>
              <a:rPr sz="135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063B66"/>
                </a:solidFill>
                <a:latin typeface="Arial"/>
                <a:cs typeface="Arial"/>
              </a:rPr>
              <a:t>Cases.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20" y="308457"/>
            <a:ext cx="159639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SYSTEM</a:t>
            </a:r>
            <a:r>
              <a:rPr sz="800" b="1" spc="4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&amp;</a:t>
            </a:r>
            <a:r>
              <a:rPr sz="800" b="1" spc="4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DATABASE</a:t>
            </a:r>
            <a:r>
              <a:rPr sz="800" b="1" spc="45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0A6B2"/>
                </a:solidFill>
                <a:latin typeface="Arial"/>
                <a:cs typeface="Arial"/>
              </a:rPr>
              <a:t>DESIGN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60" dirty="0"/>
              <a:t> </a:t>
            </a:r>
            <a:r>
              <a:rPr dirty="0"/>
              <a:t>Design</a:t>
            </a:r>
            <a:r>
              <a:rPr spc="-55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Core</a:t>
            </a:r>
            <a:r>
              <a:rPr spc="-55" dirty="0"/>
              <a:t> </a:t>
            </a:r>
            <a:r>
              <a:rPr dirty="0"/>
              <a:t>Entity</a:t>
            </a:r>
            <a:r>
              <a:rPr spc="-60" dirty="0"/>
              <a:t> </a:t>
            </a:r>
            <a:r>
              <a:rPr spc="-10" dirty="0"/>
              <a:t>Groups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078991"/>
            <a:ext cx="11201400" cy="0"/>
          </a:xfrm>
          <a:custGeom>
            <a:avLst/>
            <a:gdLst/>
            <a:ahLst/>
            <a:cxnLst/>
            <a:rect l="l" t="t" r="r" b="b"/>
            <a:pathLst>
              <a:path w="11201400">
                <a:moveTo>
                  <a:pt x="0" y="0"/>
                </a:moveTo>
                <a:lnTo>
                  <a:pt x="11201399" y="0"/>
                </a:lnTo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25169" y="1228089"/>
            <a:ext cx="3258820" cy="1292860"/>
            <a:chOff x="725169" y="1228089"/>
            <a:chExt cx="3258820" cy="1292860"/>
          </a:xfrm>
        </p:grpSpPr>
        <p:sp>
          <p:nvSpPr>
            <p:cNvPr id="6" name="object 6"/>
            <p:cNvSpPr/>
            <p:nvPr/>
          </p:nvSpPr>
          <p:spPr>
            <a:xfrm>
              <a:off x="731519" y="1234439"/>
              <a:ext cx="3246120" cy="1280160"/>
            </a:xfrm>
            <a:custGeom>
              <a:avLst/>
              <a:gdLst/>
              <a:ahLst/>
              <a:cxnLst/>
              <a:rect l="l" t="t" r="r" b="b"/>
              <a:pathLst>
                <a:path w="3246120" h="1280160">
                  <a:moveTo>
                    <a:pt x="3172971" y="1280159"/>
                  </a:moveTo>
                  <a:lnTo>
                    <a:pt x="73148" y="1280159"/>
                  </a:lnTo>
                  <a:lnTo>
                    <a:pt x="44675" y="1274411"/>
                  </a:lnTo>
                  <a:lnTo>
                    <a:pt x="21424" y="1258735"/>
                  </a:lnTo>
                  <a:lnTo>
                    <a:pt x="5748" y="1235484"/>
                  </a:lnTo>
                  <a:lnTo>
                    <a:pt x="0" y="1207011"/>
                  </a:lnTo>
                  <a:lnTo>
                    <a:pt x="0" y="73148"/>
                  </a:lnTo>
                  <a:lnTo>
                    <a:pt x="5748" y="44675"/>
                  </a:lnTo>
                  <a:lnTo>
                    <a:pt x="21424" y="21424"/>
                  </a:lnTo>
                  <a:lnTo>
                    <a:pt x="44675" y="5748"/>
                  </a:lnTo>
                  <a:lnTo>
                    <a:pt x="73148" y="0"/>
                  </a:lnTo>
                  <a:lnTo>
                    <a:pt x="3172971" y="0"/>
                  </a:lnTo>
                  <a:lnTo>
                    <a:pt x="3213554" y="12289"/>
                  </a:lnTo>
                  <a:lnTo>
                    <a:pt x="3240551" y="45155"/>
                  </a:lnTo>
                  <a:lnTo>
                    <a:pt x="3246119" y="73148"/>
                  </a:lnTo>
                  <a:lnTo>
                    <a:pt x="3246119" y="1207011"/>
                  </a:lnTo>
                  <a:lnTo>
                    <a:pt x="3240371" y="1235484"/>
                  </a:lnTo>
                  <a:lnTo>
                    <a:pt x="3224695" y="1258735"/>
                  </a:lnTo>
                  <a:lnTo>
                    <a:pt x="3201444" y="1274411"/>
                  </a:lnTo>
                  <a:lnTo>
                    <a:pt x="3172971" y="1280159"/>
                  </a:lnTo>
                  <a:close/>
                </a:path>
              </a:pathLst>
            </a:custGeom>
            <a:solidFill>
              <a:srgbClr val="F4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519" y="1234439"/>
              <a:ext cx="3246120" cy="1280160"/>
            </a:xfrm>
            <a:custGeom>
              <a:avLst/>
              <a:gdLst/>
              <a:ahLst/>
              <a:cxnLst/>
              <a:rect l="l" t="t" r="r" b="b"/>
              <a:pathLst>
                <a:path w="3246120" h="1280160">
                  <a:moveTo>
                    <a:pt x="0" y="73148"/>
                  </a:moveTo>
                  <a:lnTo>
                    <a:pt x="5748" y="44675"/>
                  </a:lnTo>
                  <a:lnTo>
                    <a:pt x="21424" y="21424"/>
                  </a:lnTo>
                  <a:lnTo>
                    <a:pt x="44675" y="5748"/>
                  </a:lnTo>
                  <a:lnTo>
                    <a:pt x="73148" y="0"/>
                  </a:lnTo>
                  <a:lnTo>
                    <a:pt x="3172971" y="0"/>
                  </a:lnTo>
                  <a:lnTo>
                    <a:pt x="3213554" y="12289"/>
                  </a:lnTo>
                  <a:lnTo>
                    <a:pt x="3240551" y="45155"/>
                  </a:lnTo>
                  <a:lnTo>
                    <a:pt x="3246119" y="73148"/>
                  </a:lnTo>
                  <a:lnTo>
                    <a:pt x="3246119" y="1207011"/>
                  </a:lnTo>
                  <a:lnTo>
                    <a:pt x="3240371" y="1235484"/>
                  </a:lnTo>
                  <a:lnTo>
                    <a:pt x="3224695" y="1258735"/>
                  </a:lnTo>
                  <a:lnTo>
                    <a:pt x="3201444" y="1274411"/>
                  </a:lnTo>
                  <a:lnTo>
                    <a:pt x="3172971" y="1280159"/>
                  </a:lnTo>
                  <a:lnTo>
                    <a:pt x="73148" y="1280159"/>
                  </a:lnTo>
                  <a:lnTo>
                    <a:pt x="44675" y="1274411"/>
                  </a:lnTo>
                  <a:lnTo>
                    <a:pt x="21424" y="1258735"/>
                  </a:lnTo>
                  <a:lnTo>
                    <a:pt x="5748" y="1235484"/>
                  </a:lnTo>
                  <a:lnTo>
                    <a:pt x="0" y="1207011"/>
                  </a:lnTo>
                  <a:lnTo>
                    <a:pt x="0" y="73148"/>
                  </a:lnTo>
                  <a:close/>
                </a:path>
              </a:pathLst>
            </a:custGeom>
            <a:ln w="12699">
              <a:solidFill>
                <a:srgbClr val="D7E4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83412" y="1394967"/>
            <a:ext cx="13950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Identity</a:t>
            </a:r>
            <a:r>
              <a:rPr sz="1300" b="1" spc="-5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&amp;</a:t>
            </a:r>
            <a:r>
              <a:rPr sz="1300" b="1" spc="-9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Access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3412" y="1797507"/>
            <a:ext cx="2702560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USER,</a:t>
            </a:r>
            <a:r>
              <a:rPr sz="9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ROLE,</a:t>
            </a:r>
            <a:r>
              <a:rPr sz="9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USER_ROLE,</a:t>
            </a:r>
            <a:r>
              <a:rPr sz="9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1E2B38"/>
                </a:solidFill>
                <a:latin typeface="Arial MT"/>
                <a:cs typeface="Arial MT"/>
              </a:rPr>
              <a:t>STAFF,</a:t>
            </a:r>
            <a:r>
              <a:rPr sz="950" spc="-1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CLINICIAN, PATIENT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80559" y="1234439"/>
            <a:ext cx="3246120" cy="1280160"/>
          </a:xfrm>
          <a:custGeom>
            <a:avLst/>
            <a:gdLst/>
            <a:ahLst/>
            <a:cxnLst/>
            <a:rect l="l" t="t" r="r" b="b"/>
            <a:pathLst>
              <a:path w="3246120" h="1280160">
                <a:moveTo>
                  <a:pt x="0" y="73148"/>
                </a:moveTo>
                <a:lnTo>
                  <a:pt x="5748" y="44675"/>
                </a:lnTo>
                <a:lnTo>
                  <a:pt x="21424" y="21424"/>
                </a:lnTo>
                <a:lnTo>
                  <a:pt x="44675" y="5748"/>
                </a:lnTo>
                <a:lnTo>
                  <a:pt x="73148" y="0"/>
                </a:lnTo>
                <a:lnTo>
                  <a:pt x="3172971" y="0"/>
                </a:lnTo>
                <a:lnTo>
                  <a:pt x="3213554" y="12289"/>
                </a:lnTo>
                <a:lnTo>
                  <a:pt x="3240551" y="45155"/>
                </a:lnTo>
                <a:lnTo>
                  <a:pt x="3246119" y="73148"/>
                </a:lnTo>
                <a:lnTo>
                  <a:pt x="3246119" y="1207011"/>
                </a:lnTo>
                <a:lnTo>
                  <a:pt x="3240371" y="1235484"/>
                </a:lnTo>
                <a:lnTo>
                  <a:pt x="3224695" y="1258735"/>
                </a:lnTo>
                <a:lnTo>
                  <a:pt x="3201444" y="1274411"/>
                </a:lnTo>
                <a:lnTo>
                  <a:pt x="3172971" y="1280159"/>
                </a:lnTo>
                <a:lnTo>
                  <a:pt x="73148" y="1280159"/>
                </a:lnTo>
                <a:lnTo>
                  <a:pt x="44675" y="1274411"/>
                </a:lnTo>
                <a:lnTo>
                  <a:pt x="21424" y="1258735"/>
                </a:lnTo>
                <a:lnTo>
                  <a:pt x="5748" y="1235484"/>
                </a:lnTo>
                <a:lnTo>
                  <a:pt x="0" y="1207011"/>
                </a:lnTo>
                <a:lnTo>
                  <a:pt x="0" y="73148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32452" y="1394967"/>
            <a:ext cx="13982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Requests</a:t>
            </a:r>
            <a:r>
              <a:rPr sz="1300" b="1" spc="-1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&amp;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063B66"/>
                </a:solidFill>
                <a:latin typeface="Arial"/>
                <a:cs typeface="Arial"/>
              </a:rPr>
              <a:t>Tests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2452" y="1797507"/>
            <a:ext cx="1674495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950" spc="-20" dirty="0">
                <a:solidFill>
                  <a:srgbClr val="1E2B38"/>
                </a:solidFill>
                <a:latin typeface="Arial MT"/>
                <a:cs typeface="Arial MT"/>
              </a:rPr>
              <a:t>LAB_TEST,</a:t>
            </a:r>
            <a:r>
              <a:rPr sz="950" spc="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TEST_REQUEST, TEST_REQUEST_ITEM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23250" y="1228089"/>
            <a:ext cx="3258820" cy="1292860"/>
            <a:chOff x="8223250" y="1228089"/>
            <a:chExt cx="3258820" cy="1292860"/>
          </a:xfrm>
        </p:grpSpPr>
        <p:sp>
          <p:nvSpPr>
            <p:cNvPr id="14" name="object 14"/>
            <p:cNvSpPr/>
            <p:nvPr/>
          </p:nvSpPr>
          <p:spPr>
            <a:xfrm>
              <a:off x="8229600" y="1234439"/>
              <a:ext cx="3246120" cy="1280160"/>
            </a:xfrm>
            <a:custGeom>
              <a:avLst/>
              <a:gdLst/>
              <a:ahLst/>
              <a:cxnLst/>
              <a:rect l="l" t="t" r="r" b="b"/>
              <a:pathLst>
                <a:path w="3246120" h="1280160">
                  <a:moveTo>
                    <a:pt x="3172971" y="1280159"/>
                  </a:moveTo>
                  <a:lnTo>
                    <a:pt x="73148" y="1280159"/>
                  </a:lnTo>
                  <a:lnTo>
                    <a:pt x="44675" y="1274411"/>
                  </a:lnTo>
                  <a:lnTo>
                    <a:pt x="21424" y="1258735"/>
                  </a:lnTo>
                  <a:lnTo>
                    <a:pt x="5748" y="1235484"/>
                  </a:lnTo>
                  <a:lnTo>
                    <a:pt x="0" y="1207011"/>
                  </a:lnTo>
                  <a:lnTo>
                    <a:pt x="0" y="73148"/>
                  </a:lnTo>
                  <a:lnTo>
                    <a:pt x="5748" y="44675"/>
                  </a:lnTo>
                  <a:lnTo>
                    <a:pt x="21424" y="21424"/>
                  </a:lnTo>
                  <a:lnTo>
                    <a:pt x="44675" y="5748"/>
                  </a:lnTo>
                  <a:lnTo>
                    <a:pt x="73148" y="0"/>
                  </a:lnTo>
                  <a:lnTo>
                    <a:pt x="3172971" y="0"/>
                  </a:lnTo>
                  <a:lnTo>
                    <a:pt x="3213554" y="12289"/>
                  </a:lnTo>
                  <a:lnTo>
                    <a:pt x="3240551" y="45155"/>
                  </a:lnTo>
                  <a:lnTo>
                    <a:pt x="3246119" y="73148"/>
                  </a:lnTo>
                  <a:lnTo>
                    <a:pt x="3246119" y="1207011"/>
                  </a:lnTo>
                  <a:lnTo>
                    <a:pt x="3240371" y="1235484"/>
                  </a:lnTo>
                  <a:lnTo>
                    <a:pt x="3224695" y="1258735"/>
                  </a:lnTo>
                  <a:lnTo>
                    <a:pt x="3201444" y="1274411"/>
                  </a:lnTo>
                  <a:lnTo>
                    <a:pt x="3172971" y="1280159"/>
                  </a:lnTo>
                  <a:close/>
                </a:path>
              </a:pathLst>
            </a:custGeom>
            <a:solidFill>
              <a:srgbClr val="F4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29600" y="1234439"/>
              <a:ext cx="3246120" cy="1280160"/>
            </a:xfrm>
            <a:custGeom>
              <a:avLst/>
              <a:gdLst/>
              <a:ahLst/>
              <a:cxnLst/>
              <a:rect l="l" t="t" r="r" b="b"/>
              <a:pathLst>
                <a:path w="3246120" h="1280160">
                  <a:moveTo>
                    <a:pt x="0" y="73148"/>
                  </a:moveTo>
                  <a:lnTo>
                    <a:pt x="5748" y="44675"/>
                  </a:lnTo>
                  <a:lnTo>
                    <a:pt x="21424" y="21424"/>
                  </a:lnTo>
                  <a:lnTo>
                    <a:pt x="44675" y="5748"/>
                  </a:lnTo>
                  <a:lnTo>
                    <a:pt x="73148" y="0"/>
                  </a:lnTo>
                  <a:lnTo>
                    <a:pt x="3172971" y="0"/>
                  </a:lnTo>
                  <a:lnTo>
                    <a:pt x="3213554" y="12289"/>
                  </a:lnTo>
                  <a:lnTo>
                    <a:pt x="3240551" y="45155"/>
                  </a:lnTo>
                  <a:lnTo>
                    <a:pt x="3246119" y="73148"/>
                  </a:lnTo>
                  <a:lnTo>
                    <a:pt x="3246119" y="1207011"/>
                  </a:lnTo>
                  <a:lnTo>
                    <a:pt x="3240371" y="1235484"/>
                  </a:lnTo>
                  <a:lnTo>
                    <a:pt x="3224695" y="1258735"/>
                  </a:lnTo>
                  <a:lnTo>
                    <a:pt x="3201444" y="1274411"/>
                  </a:lnTo>
                  <a:lnTo>
                    <a:pt x="3172971" y="1280159"/>
                  </a:lnTo>
                  <a:lnTo>
                    <a:pt x="73148" y="1280159"/>
                  </a:lnTo>
                  <a:lnTo>
                    <a:pt x="44675" y="1274411"/>
                  </a:lnTo>
                  <a:lnTo>
                    <a:pt x="21424" y="1258735"/>
                  </a:lnTo>
                  <a:lnTo>
                    <a:pt x="5748" y="1235484"/>
                  </a:lnTo>
                  <a:lnTo>
                    <a:pt x="0" y="1207011"/>
                  </a:lnTo>
                  <a:lnTo>
                    <a:pt x="0" y="73148"/>
                  </a:lnTo>
                  <a:close/>
                </a:path>
              </a:pathLst>
            </a:custGeom>
            <a:ln w="12699">
              <a:solidFill>
                <a:srgbClr val="D7E4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81492" y="1394967"/>
            <a:ext cx="8972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Specimens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81492" y="1797507"/>
            <a:ext cx="2785745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SPECIMEN,</a:t>
            </a:r>
            <a:r>
              <a:rPr sz="950" spc="2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SPECIMEN_TRACKING,</a:t>
            </a:r>
            <a:r>
              <a:rPr sz="950" spc="3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WORKLIST, TEST_ASSIGNMENT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1519" y="2926079"/>
            <a:ext cx="3246120" cy="1280160"/>
          </a:xfrm>
          <a:custGeom>
            <a:avLst/>
            <a:gdLst/>
            <a:ahLst/>
            <a:cxnLst/>
            <a:rect l="l" t="t" r="r" b="b"/>
            <a:pathLst>
              <a:path w="3246120" h="1280160">
                <a:moveTo>
                  <a:pt x="0" y="73148"/>
                </a:moveTo>
                <a:lnTo>
                  <a:pt x="5748" y="44675"/>
                </a:lnTo>
                <a:lnTo>
                  <a:pt x="21424" y="21424"/>
                </a:lnTo>
                <a:lnTo>
                  <a:pt x="44675" y="5748"/>
                </a:lnTo>
                <a:lnTo>
                  <a:pt x="73148" y="0"/>
                </a:lnTo>
                <a:lnTo>
                  <a:pt x="3172971" y="0"/>
                </a:lnTo>
                <a:lnTo>
                  <a:pt x="3213554" y="12289"/>
                </a:lnTo>
                <a:lnTo>
                  <a:pt x="3240551" y="45155"/>
                </a:lnTo>
                <a:lnTo>
                  <a:pt x="3246119" y="73148"/>
                </a:lnTo>
                <a:lnTo>
                  <a:pt x="3246119" y="1207011"/>
                </a:lnTo>
                <a:lnTo>
                  <a:pt x="3240371" y="1235484"/>
                </a:lnTo>
                <a:lnTo>
                  <a:pt x="3224695" y="1258735"/>
                </a:lnTo>
                <a:lnTo>
                  <a:pt x="3201444" y="1274411"/>
                </a:lnTo>
                <a:lnTo>
                  <a:pt x="3172971" y="1280159"/>
                </a:lnTo>
                <a:lnTo>
                  <a:pt x="73148" y="1280159"/>
                </a:lnTo>
                <a:lnTo>
                  <a:pt x="44675" y="1274411"/>
                </a:lnTo>
                <a:lnTo>
                  <a:pt x="21424" y="1258735"/>
                </a:lnTo>
                <a:lnTo>
                  <a:pt x="5748" y="1235484"/>
                </a:lnTo>
                <a:lnTo>
                  <a:pt x="0" y="1207011"/>
                </a:lnTo>
                <a:lnTo>
                  <a:pt x="0" y="73148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83412" y="3086608"/>
            <a:ext cx="199072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Results</a:t>
            </a:r>
            <a:r>
              <a:rPr sz="1300" b="1" spc="-5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&amp;</a:t>
            </a:r>
            <a:r>
              <a:rPr sz="1300" b="1" spc="-8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Alerts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1099"/>
              </a:lnSpc>
              <a:spcBef>
                <a:spcPts val="1030"/>
              </a:spcBef>
            </a:pP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TEST_RESULT, CRITICAL_ALERT_NOTIFICATION, ACKNOWLEDGEMENT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74209" y="2919729"/>
            <a:ext cx="3258820" cy="1292860"/>
            <a:chOff x="4474209" y="2919729"/>
            <a:chExt cx="3258820" cy="1292860"/>
          </a:xfrm>
        </p:grpSpPr>
        <p:sp>
          <p:nvSpPr>
            <p:cNvPr id="21" name="object 21"/>
            <p:cNvSpPr/>
            <p:nvPr/>
          </p:nvSpPr>
          <p:spPr>
            <a:xfrm>
              <a:off x="4480559" y="2926079"/>
              <a:ext cx="3246120" cy="1280160"/>
            </a:xfrm>
            <a:custGeom>
              <a:avLst/>
              <a:gdLst/>
              <a:ahLst/>
              <a:cxnLst/>
              <a:rect l="l" t="t" r="r" b="b"/>
              <a:pathLst>
                <a:path w="3246120" h="1280160">
                  <a:moveTo>
                    <a:pt x="3172971" y="1280159"/>
                  </a:moveTo>
                  <a:lnTo>
                    <a:pt x="73148" y="1280159"/>
                  </a:lnTo>
                  <a:lnTo>
                    <a:pt x="44675" y="1274411"/>
                  </a:lnTo>
                  <a:lnTo>
                    <a:pt x="21424" y="1258735"/>
                  </a:lnTo>
                  <a:lnTo>
                    <a:pt x="5748" y="1235484"/>
                  </a:lnTo>
                  <a:lnTo>
                    <a:pt x="0" y="1207011"/>
                  </a:lnTo>
                  <a:lnTo>
                    <a:pt x="0" y="73148"/>
                  </a:lnTo>
                  <a:lnTo>
                    <a:pt x="5748" y="44675"/>
                  </a:lnTo>
                  <a:lnTo>
                    <a:pt x="21424" y="21424"/>
                  </a:lnTo>
                  <a:lnTo>
                    <a:pt x="44675" y="5748"/>
                  </a:lnTo>
                  <a:lnTo>
                    <a:pt x="73148" y="0"/>
                  </a:lnTo>
                  <a:lnTo>
                    <a:pt x="3172971" y="0"/>
                  </a:lnTo>
                  <a:lnTo>
                    <a:pt x="3213554" y="12289"/>
                  </a:lnTo>
                  <a:lnTo>
                    <a:pt x="3240551" y="45155"/>
                  </a:lnTo>
                  <a:lnTo>
                    <a:pt x="3246119" y="73148"/>
                  </a:lnTo>
                  <a:lnTo>
                    <a:pt x="3246119" y="1207011"/>
                  </a:lnTo>
                  <a:lnTo>
                    <a:pt x="3240371" y="1235484"/>
                  </a:lnTo>
                  <a:lnTo>
                    <a:pt x="3224695" y="1258735"/>
                  </a:lnTo>
                  <a:lnTo>
                    <a:pt x="3201444" y="1274411"/>
                  </a:lnTo>
                  <a:lnTo>
                    <a:pt x="3172971" y="1280159"/>
                  </a:lnTo>
                  <a:close/>
                </a:path>
              </a:pathLst>
            </a:custGeom>
            <a:solidFill>
              <a:srgbClr val="F4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80559" y="2926079"/>
              <a:ext cx="3246120" cy="1280160"/>
            </a:xfrm>
            <a:custGeom>
              <a:avLst/>
              <a:gdLst/>
              <a:ahLst/>
              <a:cxnLst/>
              <a:rect l="l" t="t" r="r" b="b"/>
              <a:pathLst>
                <a:path w="3246120" h="1280160">
                  <a:moveTo>
                    <a:pt x="0" y="73148"/>
                  </a:moveTo>
                  <a:lnTo>
                    <a:pt x="5748" y="44675"/>
                  </a:lnTo>
                  <a:lnTo>
                    <a:pt x="21424" y="21424"/>
                  </a:lnTo>
                  <a:lnTo>
                    <a:pt x="44675" y="5748"/>
                  </a:lnTo>
                  <a:lnTo>
                    <a:pt x="73148" y="0"/>
                  </a:lnTo>
                  <a:lnTo>
                    <a:pt x="3172971" y="0"/>
                  </a:lnTo>
                  <a:lnTo>
                    <a:pt x="3213554" y="12289"/>
                  </a:lnTo>
                  <a:lnTo>
                    <a:pt x="3240551" y="45155"/>
                  </a:lnTo>
                  <a:lnTo>
                    <a:pt x="3246119" y="73148"/>
                  </a:lnTo>
                  <a:lnTo>
                    <a:pt x="3246119" y="1207011"/>
                  </a:lnTo>
                  <a:lnTo>
                    <a:pt x="3240371" y="1235484"/>
                  </a:lnTo>
                  <a:lnTo>
                    <a:pt x="3224695" y="1258735"/>
                  </a:lnTo>
                  <a:lnTo>
                    <a:pt x="3201444" y="1274411"/>
                  </a:lnTo>
                  <a:lnTo>
                    <a:pt x="3172971" y="1280159"/>
                  </a:lnTo>
                  <a:lnTo>
                    <a:pt x="73148" y="1280159"/>
                  </a:lnTo>
                  <a:lnTo>
                    <a:pt x="44675" y="1274411"/>
                  </a:lnTo>
                  <a:lnTo>
                    <a:pt x="21424" y="1258735"/>
                  </a:lnTo>
                  <a:lnTo>
                    <a:pt x="5748" y="1235484"/>
                  </a:lnTo>
                  <a:lnTo>
                    <a:pt x="0" y="1207011"/>
                  </a:lnTo>
                  <a:lnTo>
                    <a:pt x="0" y="73148"/>
                  </a:lnTo>
                  <a:close/>
                </a:path>
              </a:pathLst>
            </a:custGeom>
            <a:ln w="12699">
              <a:solidFill>
                <a:srgbClr val="D7E4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32452" y="3086608"/>
            <a:ext cx="12757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Reports</a:t>
            </a:r>
            <a:r>
              <a:rPr sz="1300" b="1" spc="-5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&amp;</a:t>
            </a:r>
            <a:r>
              <a:rPr sz="1300" b="1" spc="-8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Audit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2452" y="3489147"/>
            <a:ext cx="2326640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950" spc="-20" dirty="0">
                <a:solidFill>
                  <a:srgbClr val="1E2B38"/>
                </a:solidFill>
                <a:latin typeface="Arial MT"/>
                <a:cs typeface="Arial MT"/>
              </a:rPr>
              <a:t>LAB_REPORT,</a:t>
            </a:r>
            <a:r>
              <a:rPr sz="950" spc="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TEST_REPORT_RESULT, NOTIFICATION,</a:t>
            </a:r>
            <a:r>
              <a:rPr sz="950" spc="1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AUDIT_LOG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229600" y="2926079"/>
            <a:ext cx="3246120" cy="1280160"/>
          </a:xfrm>
          <a:custGeom>
            <a:avLst/>
            <a:gdLst/>
            <a:ahLst/>
            <a:cxnLst/>
            <a:rect l="l" t="t" r="r" b="b"/>
            <a:pathLst>
              <a:path w="3246120" h="1280160">
                <a:moveTo>
                  <a:pt x="0" y="73148"/>
                </a:moveTo>
                <a:lnTo>
                  <a:pt x="5748" y="44675"/>
                </a:lnTo>
                <a:lnTo>
                  <a:pt x="21424" y="21424"/>
                </a:lnTo>
                <a:lnTo>
                  <a:pt x="44675" y="5748"/>
                </a:lnTo>
                <a:lnTo>
                  <a:pt x="73148" y="0"/>
                </a:lnTo>
                <a:lnTo>
                  <a:pt x="3172971" y="0"/>
                </a:lnTo>
                <a:lnTo>
                  <a:pt x="3213554" y="12289"/>
                </a:lnTo>
                <a:lnTo>
                  <a:pt x="3240551" y="45155"/>
                </a:lnTo>
                <a:lnTo>
                  <a:pt x="3246119" y="73148"/>
                </a:lnTo>
                <a:lnTo>
                  <a:pt x="3246119" y="1207011"/>
                </a:lnTo>
                <a:lnTo>
                  <a:pt x="3240371" y="1235484"/>
                </a:lnTo>
                <a:lnTo>
                  <a:pt x="3224695" y="1258735"/>
                </a:lnTo>
                <a:lnTo>
                  <a:pt x="3201444" y="1274411"/>
                </a:lnTo>
                <a:lnTo>
                  <a:pt x="3172971" y="1280159"/>
                </a:lnTo>
                <a:lnTo>
                  <a:pt x="73148" y="1280159"/>
                </a:lnTo>
                <a:lnTo>
                  <a:pt x="44675" y="1274411"/>
                </a:lnTo>
                <a:lnTo>
                  <a:pt x="21424" y="1258735"/>
                </a:lnTo>
                <a:lnTo>
                  <a:pt x="5748" y="1235484"/>
                </a:lnTo>
                <a:lnTo>
                  <a:pt x="0" y="1207011"/>
                </a:lnTo>
                <a:lnTo>
                  <a:pt x="0" y="73148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1492" y="3086608"/>
            <a:ext cx="11061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Configuration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81492" y="3489147"/>
            <a:ext cx="2832100" cy="31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SYSTEM_CONFIGURATION,</a:t>
            </a:r>
            <a:r>
              <a:rPr sz="9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reference</a:t>
            </a:r>
            <a:r>
              <a:rPr sz="9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ranges</a:t>
            </a:r>
            <a:r>
              <a:rPr sz="9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1E2B38"/>
                </a:solidFill>
                <a:latin typeface="Arial MT"/>
                <a:cs typeface="Arial MT"/>
              </a:rPr>
              <a:t>and </a:t>
            </a:r>
            <a:r>
              <a:rPr sz="950" dirty="0">
                <a:solidFill>
                  <a:srgbClr val="1E2B38"/>
                </a:solidFill>
                <a:latin typeface="Arial MT"/>
                <a:cs typeface="Arial MT"/>
              </a:rPr>
              <a:t>test </a:t>
            </a:r>
            <a:r>
              <a:rPr sz="950" spc="-10" dirty="0">
                <a:solidFill>
                  <a:srgbClr val="1E2B38"/>
                </a:solidFill>
                <a:latin typeface="Arial MT"/>
                <a:cs typeface="Arial MT"/>
              </a:rPr>
              <a:t>settings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45210" y="4794250"/>
            <a:ext cx="1597660" cy="698500"/>
            <a:chOff x="1045210" y="4794250"/>
            <a:chExt cx="1597660" cy="698500"/>
          </a:xfrm>
        </p:grpSpPr>
        <p:sp>
          <p:nvSpPr>
            <p:cNvPr id="29" name="object 29"/>
            <p:cNvSpPr/>
            <p:nvPr/>
          </p:nvSpPr>
          <p:spPr>
            <a:xfrm>
              <a:off x="1051560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60" h="685800">
                  <a:moveTo>
                    <a:pt x="1447799" y="685799"/>
                  </a:move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close/>
                </a:path>
              </a:pathLst>
            </a:custGeom>
            <a:solidFill>
              <a:srgbClr val="EA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1560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60" h="685800">
                  <a:moveTo>
                    <a:pt x="0" y="137159"/>
                  </a:move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close/>
                </a:path>
              </a:pathLst>
            </a:custGeom>
            <a:ln w="12699">
              <a:solidFill>
                <a:srgbClr val="A8D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630382" y="5113020"/>
            <a:ext cx="4279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Patient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739898" y="4794250"/>
            <a:ext cx="1597660" cy="698500"/>
            <a:chOff x="2739898" y="4794250"/>
            <a:chExt cx="1597660" cy="698500"/>
          </a:xfrm>
        </p:grpSpPr>
        <p:sp>
          <p:nvSpPr>
            <p:cNvPr id="33" name="object 33"/>
            <p:cNvSpPr/>
            <p:nvPr/>
          </p:nvSpPr>
          <p:spPr>
            <a:xfrm>
              <a:off x="2746248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60" h="685800">
                  <a:moveTo>
                    <a:pt x="1447799" y="685799"/>
                  </a:move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5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close/>
                </a:path>
              </a:pathLst>
            </a:custGeom>
            <a:solidFill>
              <a:srgbClr val="F1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6248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60" h="685800">
                  <a:moveTo>
                    <a:pt x="0" y="137159"/>
                  </a:move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5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close/>
                </a:path>
              </a:pathLst>
            </a:custGeom>
            <a:ln w="12699">
              <a:solidFill>
                <a:srgbClr val="94E0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152018" y="5113020"/>
            <a:ext cx="7740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Test</a:t>
            </a:r>
            <a:r>
              <a:rPr sz="950" b="1" spc="-4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Request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434585" y="4794250"/>
            <a:ext cx="1597660" cy="698500"/>
            <a:chOff x="4434585" y="4794250"/>
            <a:chExt cx="1597660" cy="698500"/>
          </a:xfrm>
        </p:grpSpPr>
        <p:sp>
          <p:nvSpPr>
            <p:cNvPr id="37" name="object 37"/>
            <p:cNvSpPr/>
            <p:nvPr/>
          </p:nvSpPr>
          <p:spPr>
            <a:xfrm>
              <a:off x="4440935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60" h="685800">
                  <a:moveTo>
                    <a:pt x="1447799" y="685799"/>
                  </a:move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close/>
                </a:path>
              </a:pathLst>
            </a:custGeom>
            <a:solidFill>
              <a:srgbClr val="EA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40935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60" h="685800">
                  <a:moveTo>
                    <a:pt x="0" y="137159"/>
                  </a:move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close/>
                </a:path>
              </a:pathLst>
            </a:custGeom>
            <a:ln w="12699">
              <a:solidFill>
                <a:srgbClr val="A8D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935968" y="5113020"/>
            <a:ext cx="594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Specimen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129273" y="4794250"/>
            <a:ext cx="1597660" cy="698500"/>
            <a:chOff x="6129273" y="4794250"/>
            <a:chExt cx="1597660" cy="698500"/>
          </a:xfrm>
        </p:grpSpPr>
        <p:sp>
          <p:nvSpPr>
            <p:cNvPr id="41" name="object 41"/>
            <p:cNvSpPr/>
            <p:nvPr/>
          </p:nvSpPr>
          <p:spPr>
            <a:xfrm>
              <a:off x="6135623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59" h="685800">
                  <a:moveTo>
                    <a:pt x="1447800" y="685799"/>
                  </a:moveTo>
                  <a:lnTo>
                    <a:pt x="137160" y="685799"/>
                  </a:lnTo>
                  <a:lnTo>
                    <a:pt x="93807" y="678807"/>
                  </a:lnTo>
                  <a:lnTo>
                    <a:pt x="56155" y="659336"/>
                  </a:lnTo>
                  <a:lnTo>
                    <a:pt x="26464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4" y="56155"/>
                  </a:lnTo>
                  <a:lnTo>
                    <a:pt x="56155" y="26463"/>
                  </a:lnTo>
                  <a:lnTo>
                    <a:pt x="93807" y="6992"/>
                  </a:lnTo>
                  <a:lnTo>
                    <a:pt x="137160" y="0"/>
                  </a:lnTo>
                  <a:lnTo>
                    <a:pt x="1447800" y="0"/>
                  </a:lnTo>
                  <a:lnTo>
                    <a:pt x="1500289" y="10440"/>
                  </a:lnTo>
                  <a:lnTo>
                    <a:pt x="1544787" y="40172"/>
                  </a:lnTo>
                  <a:lnTo>
                    <a:pt x="1574519" y="84671"/>
                  </a:lnTo>
                  <a:lnTo>
                    <a:pt x="1584960" y="137159"/>
                  </a:lnTo>
                  <a:lnTo>
                    <a:pt x="1584960" y="548639"/>
                  </a:lnTo>
                  <a:lnTo>
                    <a:pt x="1577968" y="591993"/>
                  </a:lnTo>
                  <a:lnTo>
                    <a:pt x="1558496" y="629644"/>
                  </a:lnTo>
                  <a:lnTo>
                    <a:pt x="1528805" y="659336"/>
                  </a:lnTo>
                  <a:lnTo>
                    <a:pt x="1491153" y="678807"/>
                  </a:lnTo>
                  <a:lnTo>
                    <a:pt x="1447800" y="685799"/>
                  </a:lnTo>
                  <a:close/>
                </a:path>
              </a:pathLst>
            </a:custGeom>
            <a:solidFill>
              <a:srgbClr val="F1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35623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59" h="685800">
                  <a:moveTo>
                    <a:pt x="0" y="137159"/>
                  </a:moveTo>
                  <a:lnTo>
                    <a:pt x="6992" y="93806"/>
                  </a:lnTo>
                  <a:lnTo>
                    <a:pt x="26464" y="56155"/>
                  </a:lnTo>
                  <a:lnTo>
                    <a:pt x="56155" y="26463"/>
                  </a:lnTo>
                  <a:lnTo>
                    <a:pt x="93807" y="6992"/>
                  </a:lnTo>
                  <a:lnTo>
                    <a:pt x="137160" y="0"/>
                  </a:lnTo>
                  <a:lnTo>
                    <a:pt x="1447800" y="0"/>
                  </a:lnTo>
                  <a:lnTo>
                    <a:pt x="1500289" y="10440"/>
                  </a:lnTo>
                  <a:lnTo>
                    <a:pt x="1544787" y="40172"/>
                  </a:lnTo>
                  <a:lnTo>
                    <a:pt x="1574519" y="84671"/>
                  </a:lnTo>
                  <a:lnTo>
                    <a:pt x="1584960" y="137159"/>
                  </a:lnTo>
                  <a:lnTo>
                    <a:pt x="1584960" y="548639"/>
                  </a:lnTo>
                  <a:lnTo>
                    <a:pt x="1577968" y="591993"/>
                  </a:lnTo>
                  <a:lnTo>
                    <a:pt x="1558496" y="629644"/>
                  </a:lnTo>
                  <a:lnTo>
                    <a:pt x="1528805" y="659336"/>
                  </a:lnTo>
                  <a:lnTo>
                    <a:pt x="1491153" y="678807"/>
                  </a:lnTo>
                  <a:lnTo>
                    <a:pt x="1447800" y="685799"/>
                  </a:lnTo>
                  <a:lnTo>
                    <a:pt x="137160" y="685799"/>
                  </a:lnTo>
                  <a:lnTo>
                    <a:pt x="93807" y="678807"/>
                  </a:lnTo>
                  <a:lnTo>
                    <a:pt x="56155" y="659336"/>
                  </a:lnTo>
                  <a:lnTo>
                    <a:pt x="26464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close/>
                </a:path>
              </a:pathLst>
            </a:custGeom>
            <a:ln w="12699">
              <a:solidFill>
                <a:srgbClr val="94E0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94988" y="5113020"/>
            <a:ext cx="6667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Test</a:t>
            </a:r>
            <a:r>
              <a:rPr sz="950" b="1" spc="-5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Result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823961" y="4794250"/>
            <a:ext cx="1597660" cy="698500"/>
            <a:chOff x="7823961" y="4794250"/>
            <a:chExt cx="1597660" cy="698500"/>
          </a:xfrm>
        </p:grpSpPr>
        <p:sp>
          <p:nvSpPr>
            <p:cNvPr id="45" name="object 45"/>
            <p:cNvSpPr/>
            <p:nvPr/>
          </p:nvSpPr>
          <p:spPr>
            <a:xfrm>
              <a:off x="7830311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59" h="685800">
                  <a:moveTo>
                    <a:pt x="1447799" y="685799"/>
                  </a:moveTo>
                  <a:lnTo>
                    <a:pt x="137160" y="685799"/>
                  </a:lnTo>
                  <a:lnTo>
                    <a:pt x="93806" y="678807"/>
                  </a:lnTo>
                  <a:lnTo>
                    <a:pt x="56154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4" y="26463"/>
                  </a:lnTo>
                  <a:lnTo>
                    <a:pt x="93806" y="6992"/>
                  </a:lnTo>
                  <a:lnTo>
                    <a:pt x="137160" y="0"/>
                  </a:lnTo>
                  <a:lnTo>
                    <a:pt x="1447799" y="0"/>
                  </a:lnTo>
                  <a:lnTo>
                    <a:pt x="1500289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60" y="137159"/>
                  </a:lnTo>
                  <a:lnTo>
                    <a:pt x="1584960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5" y="659336"/>
                  </a:lnTo>
                  <a:lnTo>
                    <a:pt x="1491153" y="678807"/>
                  </a:lnTo>
                  <a:lnTo>
                    <a:pt x="1447799" y="685799"/>
                  </a:lnTo>
                  <a:close/>
                </a:path>
              </a:pathLst>
            </a:custGeom>
            <a:solidFill>
              <a:srgbClr val="EA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30311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59" h="685800">
                  <a:moveTo>
                    <a:pt x="0" y="137159"/>
                  </a:moveTo>
                  <a:lnTo>
                    <a:pt x="6992" y="93806"/>
                  </a:lnTo>
                  <a:lnTo>
                    <a:pt x="26463" y="56155"/>
                  </a:lnTo>
                  <a:lnTo>
                    <a:pt x="56154" y="26463"/>
                  </a:lnTo>
                  <a:lnTo>
                    <a:pt x="93806" y="6992"/>
                  </a:lnTo>
                  <a:lnTo>
                    <a:pt x="137160" y="0"/>
                  </a:lnTo>
                  <a:lnTo>
                    <a:pt x="1447799" y="0"/>
                  </a:lnTo>
                  <a:lnTo>
                    <a:pt x="1500289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60" y="137159"/>
                  </a:lnTo>
                  <a:lnTo>
                    <a:pt x="1584960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5" y="659336"/>
                  </a:lnTo>
                  <a:lnTo>
                    <a:pt x="1491153" y="678807"/>
                  </a:lnTo>
                  <a:lnTo>
                    <a:pt x="1447799" y="685799"/>
                  </a:lnTo>
                  <a:lnTo>
                    <a:pt x="137160" y="685799"/>
                  </a:lnTo>
                  <a:lnTo>
                    <a:pt x="93806" y="678807"/>
                  </a:lnTo>
                  <a:lnTo>
                    <a:pt x="56154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close/>
                </a:path>
              </a:pathLst>
            </a:custGeom>
            <a:ln w="12699">
              <a:solidFill>
                <a:srgbClr val="A8D3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291969" y="5113020"/>
            <a:ext cx="6623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063B66"/>
                </a:solidFill>
                <a:latin typeface="Arial"/>
                <a:cs typeface="Arial"/>
              </a:rPr>
              <a:t>Lab</a:t>
            </a:r>
            <a:r>
              <a:rPr sz="950" b="1" spc="-1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Report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518650" y="4794250"/>
            <a:ext cx="1597660" cy="698500"/>
            <a:chOff x="9518650" y="4794250"/>
            <a:chExt cx="1597660" cy="698500"/>
          </a:xfrm>
        </p:grpSpPr>
        <p:sp>
          <p:nvSpPr>
            <p:cNvPr id="49" name="object 49"/>
            <p:cNvSpPr/>
            <p:nvPr/>
          </p:nvSpPr>
          <p:spPr>
            <a:xfrm>
              <a:off x="9525000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59" h="685800">
                  <a:moveTo>
                    <a:pt x="1447799" y="685799"/>
                  </a:move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close/>
                </a:path>
              </a:pathLst>
            </a:custGeom>
            <a:solidFill>
              <a:srgbClr val="F1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525000" y="4800600"/>
              <a:ext cx="1584960" cy="685800"/>
            </a:xfrm>
            <a:custGeom>
              <a:avLst/>
              <a:gdLst/>
              <a:ahLst/>
              <a:cxnLst/>
              <a:rect l="l" t="t" r="r" b="b"/>
              <a:pathLst>
                <a:path w="1584959" h="685800">
                  <a:moveTo>
                    <a:pt x="0" y="137159"/>
                  </a:move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447799" y="0"/>
                  </a:lnTo>
                  <a:lnTo>
                    <a:pt x="1500288" y="10440"/>
                  </a:lnTo>
                  <a:lnTo>
                    <a:pt x="1544786" y="40172"/>
                  </a:lnTo>
                  <a:lnTo>
                    <a:pt x="1574519" y="84671"/>
                  </a:lnTo>
                  <a:lnTo>
                    <a:pt x="1584959" y="137159"/>
                  </a:lnTo>
                  <a:lnTo>
                    <a:pt x="1584959" y="548639"/>
                  </a:lnTo>
                  <a:lnTo>
                    <a:pt x="1577967" y="591993"/>
                  </a:lnTo>
                  <a:lnTo>
                    <a:pt x="1558496" y="629644"/>
                  </a:lnTo>
                  <a:lnTo>
                    <a:pt x="1528804" y="659336"/>
                  </a:lnTo>
                  <a:lnTo>
                    <a:pt x="1491153" y="678807"/>
                  </a:lnTo>
                  <a:lnTo>
                    <a:pt x="1447799" y="685799"/>
                  </a:lnTo>
                  <a:lnTo>
                    <a:pt x="137159" y="685799"/>
                  </a:lnTo>
                  <a:lnTo>
                    <a:pt x="93806" y="678807"/>
                  </a:lnTo>
                  <a:lnTo>
                    <a:pt x="56155" y="659336"/>
                  </a:lnTo>
                  <a:lnTo>
                    <a:pt x="26463" y="629644"/>
                  </a:lnTo>
                  <a:lnTo>
                    <a:pt x="6992" y="591993"/>
                  </a:lnTo>
                  <a:lnTo>
                    <a:pt x="0" y="548639"/>
                  </a:lnTo>
                  <a:lnTo>
                    <a:pt x="0" y="137159"/>
                  </a:lnTo>
                  <a:close/>
                </a:path>
              </a:pathLst>
            </a:custGeom>
            <a:ln w="12699">
              <a:solidFill>
                <a:srgbClr val="94E0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0010087" y="5113020"/>
            <a:ext cx="6153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063B66"/>
                </a:solidFill>
                <a:latin typeface="Arial"/>
                <a:cs typeface="Arial"/>
              </a:rPr>
              <a:t>Audit</a:t>
            </a:r>
            <a:r>
              <a:rPr sz="950" b="1" spc="-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063B66"/>
                </a:solidFill>
                <a:latin typeface="Arial"/>
                <a:cs typeface="Arial"/>
              </a:rPr>
              <a:t>Trail</a:t>
            </a:r>
            <a:endParaRPr sz="9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84673" y="5725668"/>
            <a:ext cx="74822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Core</a:t>
            </a:r>
            <a:r>
              <a:rPr sz="1400" b="1" spc="-3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relationship: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Patient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40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63B66"/>
                </a:solidFill>
                <a:latin typeface="Arial"/>
                <a:cs typeface="Arial"/>
              </a:rPr>
              <a:t>Test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Request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40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Specimen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63B66"/>
                </a:solidFill>
                <a:latin typeface="Arial"/>
                <a:cs typeface="Arial"/>
              </a:rPr>
              <a:t>Test</a:t>
            </a:r>
            <a:r>
              <a:rPr sz="1400" b="1" spc="-2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Result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→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63B66"/>
                </a:solidFill>
                <a:latin typeface="Arial"/>
                <a:cs typeface="Arial"/>
              </a:rPr>
              <a:t>Clinical</a:t>
            </a:r>
            <a:r>
              <a:rPr sz="1400" b="1" spc="-2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63B66"/>
                </a:solidFill>
                <a:latin typeface="Arial"/>
                <a:cs typeface="Arial"/>
              </a:rPr>
              <a:t>Report.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20" y="308457"/>
            <a:ext cx="159639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SYSTEM</a:t>
            </a:r>
            <a:r>
              <a:rPr sz="800" b="1" spc="4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&amp;</a:t>
            </a:r>
            <a:r>
              <a:rPr sz="800" b="1" spc="4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DATABASE</a:t>
            </a:r>
            <a:r>
              <a:rPr sz="800" b="1" spc="45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0A6B2"/>
                </a:solidFill>
                <a:latin typeface="Arial"/>
                <a:cs typeface="Arial"/>
              </a:rPr>
              <a:t>DESIGN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ERD</a:t>
            </a:r>
            <a:r>
              <a:rPr spc="-70" dirty="0"/>
              <a:t> </a:t>
            </a:r>
            <a:r>
              <a:rPr dirty="0"/>
              <a:t>Overview</a:t>
            </a:r>
            <a:r>
              <a:rPr spc="-70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dirty="0"/>
              <a:t>Common</a:t>
            </a:r>
            <a:r>
              <a:rPr spc="-70" dirty="0"/>
              <a:t> </a:t>
            </a:r>
            <a:r>
              <a:rPr dirty="0"/>
              <a:t>Group</a:t>
            </a:r>
            <a:r>
              <a:rPr spc="-70" dirty="0"/>
              <a:t> </a:t>
            </a:r>
            <a:r>
              <a:rPr dirty="0"/>
              <a:t>Database</a:t>
            </a:r>
            <a:r>
              <a:rPr spc="-70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2919" y="1072641"/>
            <a:ext cx="11201400" cy="5081270"/>
            <a:chOff x="502919" y="1072641"/>
            <a:chExt cx="11201400" cy="5081270"/>
          </a:xfrm>
        </p:grpSpPr>
        <p:sp>
          <p:nvSpPr>
            <p:cNvPr id="5" name="object 5"/>
            <p:cNvSpPr/>
            <p:nvPr/>
          </p:nvSpPr>
          <p:spPr>
            <a:xfrm>
              <a:off x="502919" y="1078991"/>
              <a:ext cx="11201400" cy="0"/>
            </a:xfrm>
            <a:custGeom>
              <a:avLst/>
              <a:gdLst/>
              <a:ahLst/>
              <a:cxnLst/>
              <a:rect l="l" t="t" r="r" b="b"/>
              <a:pathLst>
                <a:path w="11201400">
                  <a:moveTo>
                    <a:pt x="0" y="0"/>
                  </a:moveTo>
                  <a:lnTo>
                    <a:pt x="11201399" y="0"/>
                  </a:lnTo>
                </a:path>
              </a:pathLst>
            </a:custGeom>
            <a:ln w="12699">
              <a:solidFill>
                <a:srgbClr val="D7E4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7430" y="1078992"/>
              <a:ext cx="7612379" cy="50749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945" y="222504"/>
            <a:ext cx="15392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00A0BE"/>
                </a:solidFill>
                <a:latin typeface="Arial"/>
                <a:cs typeface="Arial"/>
              </a:rPr>
              <a:t>SYSTEM</a:t>
            </a:r>
            <a:r>
              <a:rPr sz="800" b="1" spc="-15" dirty="0">
                <a:solidFill>
                  <a:srgbClr val="00A0BE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0BE"/>
                </a:solidFill>
                <a:latin typeface="Arial"/>
                <a:cs typeface="Arial"/>
              </a:rPr>
              <a:t>&amp;</a:t>
            </a:r>
            <a:r>
              <a:rPr sz="800" b="1" spc="-10" dirty="0">
                <a:solidFill>
                  <a:srgbClr val="00A0BE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00A0BE"/>
                </a:solidFill>
                <a:latin typeface="Arial"/>
                <a:cs typeface="Arial"/>
              </a:rPr>
              <a:t>DATABASE</a:t>
            </a:r>
            <a:r>
              <a:rPr sz="800" b="1" spc="-10" dirty="0">
                <a:solidFill>
                  <a:srgbClr val="00A0BE"/>
                </a:solidFill>
                <a:latin typeface="Arial"/>
                <a:cs typeface="Arial"/>
              </a:rPr>
              <a:t> DESIGN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5945" y="336803"/>
            <a:ext cx="54444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0F375F"/>
                </a:solidFill>
              </a:rPr>
              <a:t>ERD</a:t>
            </a:r>
            <a:r>
              <a:rPr sz="2300" spc="-40" dirty="0">
                <a:solidFill>
                  <a:srgbClr val="0F375F"/>
                </a:solidFill>
              </a:rPr>
              <a:t> </a:t>
            </a:r>
            <a:r>
              <a:rPr sz="2300" dirty="0">
                <a:solidFill>
                  <a:srgbClr val="0F375F"/>
                </a:solidFill>
              </a:rPr>
              <a:t>—</a:t>
            </a:r>
            <a:r>
              <a:rPr sz="2300" spc="-35" dirty="0">
                <a:solidFill>
                  <a:srgbClr val="0F375F"/>
                </a:solidFill>
              </a:rPr>
              <a:t> </a:t>
            </a:r>
            <a:r>
              <a:rPr sz="2300" dirty="0">
                <a:solidFill>
                  <a:srgbClr val="0F375F"/>
                </a:solidFill>
              </a:rPr>
              <a:t>Core</a:t>
            </a:r>
            <a:r>
              <a:rPr sz="2300" spc="-40" dirty="0">
                <a:solidFill>
                  <a:srgbClr val="0F375F"/>
                </a:solidFill>
              </a:rPr>
              <a:t> </a:t>
            </a:r>
            <a:r>
              <a:rPr sz="2300" dirty="0">
                <a:solidFill>
                  <a:srgbClr val="0F375F"/>
                </a:solidFill>
              </a:rPr>
              <a:t>Relationship</a:t>
            </a:r>
            <a:r>
              <a:rPr sz="2300" spc="-35" dirty="0">
                <a:solidFill>
                  <a:srgbClr val="0F375F"/>
                </a:solidFill>
              </a:rPr>
              <a:t> </a:t>
            </a:r>
            <a:r>
              <a:rPr sz="2300" spc="-10" dirty="0">
                <a:solidFill>
                  <a:srgbClr val="0F375F"/>
                </a:solidFill>
              </a:rPr>
              <a:t>Walkthrough</a:t>
            </a:r>
            <a:endParaRPr sz="2300"/>
          </a:p>
        </p:txBody>
      </p:sp>
      <p:sp>
        <p:nvSpPr>
          <p:cNvPr id="4" name="object 4"/>
          <p:cNvSpPr/>
          <p:nvPr/>
        </p:nvSpPr>
        <p:spPr>
          <a:xfrm>
            <a:off x="502919" y="941831"/>
            <a:ext cx="11109960" cy="22860"/>
          </a:xfrm>
          <a:custGeom>
            <a:avLst/>
            <a:gdLst/>
            <a:ahLst/>
            <a:cxnLst/>
            <a:rect l="l" t="t" r="r" b="b"/>
            <a:pathLst>
              <a:path w="11109960" h="22859">
                <a:moveTo>
                  <a:pt x="11109959" y="22859"/>
                </a:moveTo>
                <a:lnTo>
                  <a:pt x="0" y="22859"/>
                </a:lnTo>
                <a:lnTo>
                  <a:pt x="0" y="0"/>
                </a:lnTo>
                <a:lnTo>
                  <a:pt x="11109959" y="0"/>
                </a:lnTo>
                <a:lnTo>
                  <a:pt x="11109959" y="22859"/>
                </a:lnTo>
                <a:close/>
              </a:path>
            </a:pathLst>
          </a:custGeom>
          <a:solidFill>
            <a:srgbClr val="00A0B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89597" y="1229677"/>
            <a:ext cx="5175885" cy="1884045"/>
            <a:chOff x="589597" y="1229677"/>
            <a:chExt cx="5175885" cy="1884045"/>
          </a:xfrm>
        </p:grpSpPr>
        <p:sp>
          <p:nvSpPr>
            <p:cNvPr id="6" name="object 6"/>
            <p:cNvSpPr/>
            <p:nvPr/>
          </p:nvSpPr>
          <p:spPr>
            <a:xfrm>
              <a:off x="594359" y="123443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4853933" y="1874518"/>
                  </a:moveTo>
                  <a:lnTo>
                    <a:pt x="312425" y="1874518"/>
                  </a:lnTo>
                  <a:lnTo>
                    <a:pt x="266257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7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2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6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4" y="1845481"/>
                  </a:lnTo>
                  <a:lnTo>
                    <a:pt x="4944166" y="1861291"/>
                  </a:lnTo>
                  <a:lnTo>
                    <a:pt x="4900101" y="1871131"/>
                  </a:lnTo>
                  <a:lnTo>
                    <a:pt x="4853933" y="1874518"/>
                  </a:lnTo>
                  <a:close/>
                </a:path>
              </a:pathLst>
            </a:custGeom>
            <a:solidFill>
              <a:srgbClr val="F6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0" y="312426"/>
                  </a:move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7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2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6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4" y="1845481"/>
                  </a:lnTo>
                  <a:lnTo>
                    <a:pt x="4944166" y="1861291"/>
                  </a:lnTo>
                  <a:lnTo>
                    <a:pt x="4900101" y="1871131"/>
                  </a:lnTo>
                  <a:lnTo>
                    <a:pt x="4853933" y="1874518"/>
                  </a:lnTo>
                  <a:lnTo>
                    <a:pt x="312425" y="1874518"/>
                  </a:lnTo>
                  <a:lnTo>
                    <a:pt x="266257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close/>
                </a:path>
              </a:pathLst>
            </a:custGeom>
            <a:ln w="9524">
              <a:solidFill>
                <a:srgbClr val="D1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8891" y="1861311"/>
            <a:ext cx="3948429" cy="60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465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375F"/>
                </a:solidFill>
                <a:latin typeface="Arial"/>
                <a:cs typeface="Arial"/>
              </a:rPr>
              <a:t>Identity</a:t>
            </a:r>
            <a:r>
              <a:rPr sz="1600" b="1" spc="-55" dirty="0">
                <a:solidFill>
                  <a:srgbClr val="0F375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375F"/>
                </a:solidFill>
                <a:latin typeface="Arial"/>
                <a:cs typeface="Arial"/>
              </a:rPr>
              <a:t>&amp;</a:t>
            </a:r>
            <a:r>
              <a:rPr sz="1600" b="1" spc="-50" dirty="0">
                <a:solidFill>
                  <a:srgbClr val="0F375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375F"/>
                </a:solidFill>
                <a:latin typeface="Arial"/>
                <a:cs typeface="Arial"/>
              </a:rPr>
              <a:t>roles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USERS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USER_ROLES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ROLES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Profiles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link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patient,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clinician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staff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records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to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user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accounts.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13157" y="1229677"/>
            <a:ext cx="5175885" cy="1884045"/>
            <a:chOff x="6213157" y="1229677"/>
            <a:chExt cx="5175885" cy="1884045"/>
          </a:xfrm>
        </p:grpSpPr>
        <p:sp>
          <p:nvSpPr>
            <p:cNvPr id="10" name="object 10"/>
            <p:cNvSpPr/>
            <p:nvPr/>
          </p:nvSpPr>
          <p:spPr>
            <a:xfrm>
              <a:off x="6217920" y="123443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4853933" y="1874518"/>
                  </a:moveTo>
                  <a:lnTo>
                    <a:pt x="312425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3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6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5" y="1845481"/>
                  </a:lnTo>
                  <a:lnTo>
                    <a:pt x="4944166" y="1861291"/>
                  </a:lnTo>
                  <a:lnTo>
                    <a:pt x="4900102" y="1871131"/>
                  </a:lnTo>
                  <a:lnTo>
                    <a:pt x="4853933" y="1874518"/>
                  </a:lnTo>
                  <a:close/>
                </a:path>
              </a:pathLst>
            </a:custGeom>
            <a:solidFill>
              <a:srgbClr val="F6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7920" y="123443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0" y="312426"/>
                  </a:move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3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6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5" y="1845481"/>
                  </a:lnTo>
                  <a:lnTo>
                    <a:pt x="4944166" y="1861291"/>
                  </a:lnTo>
                  <a:lnTo>
                    <a:pt x="4900102" y="1871131"/>
                  </a:lnTo>
                  <a:lnTo>
                    <a:pt x="4853933" y="1874518"/>
                  </a:lnTo>
                  <a:lnTo>
                    <a:pt x="312425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close/>
                </a:path>
              </a:pathLst>
            </a:custGeom>
            <a:ln w="9524">
              <a:solidFill>
                <a:srgbClr val="D1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82451" y="1861311"/>
            <a:ext cx="4833620" cy="60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375F"/>
                </a:solidFill>
                <a:latin typeface="Arial"/>
                <a:cs typeface="Arial"/>
              </a:rPr>
              <a:t>Request</a:t>
            </a:r>
            <a:r>
              <a:rPr sz="1600" b="1" spc="-5" dirty="0">
                <a:solidFill>
                  <a:srgbClr val="0F375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375F"/>
                </a:solidFill>
                <a:latin typeface="Arial"/>
                <a:cs typeface="Arial"/>
              </a:rPr>
              <a:t>lifecycle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spc="-30" dirty="0">
                <a:solidFill>
                  <a:srgbClr val="1F2D3D"/>
                </a:solidFill>
                <a:latin typeface="Arial MT"/>
                <a:cs typeface="Arial MT"/>
              </a:rPr>
              <a:t>PATIENTS</a:t>
            </a:r>
            <a:r>
              <a:rPr sz="1100" spc="-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/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 CLINICIANS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3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TEST_REQUESTS</a:t>
            </a:r>
            <a:r>
              <a:rPr sz="1100" spc="-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TEST_REQUEST_ITEMS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LAB_TESTS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9597" y="3561397"/>
            <a:ext cx="5175885" cy="1884045"/>
            <a:chOff x="589597" y="3561397"/>
            <a:chExt cx="5175885" cy="1884045"/>
          </a:xfrm>
        </p:grpSpPr>
        <p:sp>
          <p:nvSpPr>
            <p:cNvPr id="14" name="object 14"/>
            <p:cNvSpPr/>
            <p:nvPr/>
          </p:nvSpPr>
          <p:spPr>
            <a:xfrm>
              <a:off x="594359" y="356615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4853933" y="1874518"/>
                  </a:moveTo>
                  <a:lnTo>
                    <a:pt x="312425" y="1874518"/>
                  </a:lnTo>
                  <a:lnTo>
                    <a:pt x="266257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5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7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2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5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4" y="1845481"/>
                  </a:lnTo>
                  <a:lnTo>
                    <a:pt x="4944166" y="1861291"/>
                  </a:lnTo>
                  <a:lnTo>
                    <a:pt x="4900101" y="1871131"/>
                  </a:lnTo>
                  <a:lnTo>
                    <a:pt x="4853933" y="1874518"/>
                  </a:lnTo>
                  <a:close/>
                </a:path>
              </a:pathLst>
            </a:custGeom>
            <a:solidFill>
              <a:srgbClr val="F6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4359" y="356615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0" y="312425"/>
                  </a:move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7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2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5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4" y="1845481"/>
                  </a:lnTo>
                  <a:lnTo>
                    <a:pt x="4944166" y="1861291"/>
                  </a:lnTo>
                  <a:lnTo>
                    <a:pt x="4900101" y="1871131"/>
                  </a:lnTo>
                  <a:lnTo>
                    <a:pt x="4853933" y="1874518"/>
                  </a:lnTo>
                  <a:lnTo>
                    <a:pt x="312425" y="1874518"/>
                  </a:lnTo>
                  <a:lnTo>
                    <a:pt x="266257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5"/>
                  </a:lnTo>
                  <a:close/>
                </a:path>
              </a:pathLst>
            </a:custGeom>
            <a:ln w="9524">
              <a:solidFill>
                <a:srgbClr val="D1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8891" y="4193031"/>
            <a:ext cx="4823460" cy="60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375F"/>
                </a:solidFill>
                <a:latin typeface="Arial"/>
                <a:cs typeface="Arial"/>
              </a:rPr>
              <a:t>Specimen</a:t>
            </a:r>
            <a:r>
              <a:rPr sz="1600" b="1" spc="-40" dirty="0">
                <a:solidFill>
                  <a:srgbClr val="0F375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375F"/>
                </a:solidFill>
                <a:latin typeface="Arial"/>
                <a:cs typeface="Arial"/>
              </a:rPr>
              <a:t>lifecycle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TEST_REQUESTS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SPECIMENS</a:t>
            </a:r>
            <a:r>
              <a:rPr sz="1100" spc="-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SPECIMEN_TRACKING</a:t>
            </a:r>
            <a:r>
              <a:rPr sz="1100" spc="-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/</a:t>
            </a:r>
            <a:r>
              <a:rPr sz="1100" spc="-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RECEIPTS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TEST_ASSIGNMENT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13157" y="3561397"/>
            <a:ext cx="5175885" cy="1884045"/>
            <a:chOff x="6213157" y="3561397"/>
            <a:chExt cx="5175885" cy="1884045"/>
          </a:xfrm>
        </p:grpSpPr>
        <p:sp>
          <p:nvSpPr>
            <p:cNvPr id="18" name="object 18"/>
            <p:cNvSpPr/>
            <p:nvPr/>
          </p:nvSpPr>
          <p:spPr>
            <a:xfrm>
              <a:off x="6217920" y="356615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4853933" y="1874518"/>
                  </a:moveTo>
                  <a:lnTo>
                    <a:pt x="312425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5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3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5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5" y="1845481"/>
                  </a:lnTo>
                  <a:lnTo>
                    <a:pt x="4944166" y="1861291"/>
                  </a:lnTo>
                  <a:lnTo>
                    <a:pt x="4900102" y="1871131"/>
                  </a:lnTo>
                  <a:lnTo>
                    <a:pt x="4853933" y="1874518"/>
                  </a:lnTo>
                  <a:close/>
                </a:path>
              </a:pathLst>
            </a:custGeom>
            <a:solidFill>
              <a:srgbClr val="F6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7920" y="3566159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0" y="312425"/>
                  </a:move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5" y="0"/>
                  </a:lnTo>
                  <a:lnTo>
                    <a:pt x="4853933" y="0"/>
                  </a:lnTo>
                  <a:lnTo>
                    <a:pt x="4903103" y="3892"/>
                  </a:lnTo>
                  <a:lnTo>
                    <a:pt x="4950618" y="15336"/>
                  </a:lnTo>
                  <a:lnTo>
                    <a:pt x="4995641" y="33985"/>
                  </a:lnTo>
                  <a:lnTo>
                    <a:pt x="5037332" y="59491"/>
                  </a:lnTo>
                  <a:lnTo>
                    <a:pt x="5074852" y="91507"/>
                  </a:lnTo>
                  <a:lnTo>
                    <a:pt x="5106868" y="129027"/>
                  </a:lnTo>
                  <a:lnTo>
                    <a:pt x="5132374" y="170718"/>
                  </a:lnTo>
                  <a:lnTo>
                    <a:pt x="5151023" y="215741"/>
                  </a:lnTo>
                  <a:lnTo>
                    <a:pt x="5162467" y="263256"/>
                  </a:lnTo>
                  <a:lnTo>
                    <a:pt x="5166359" y="312425"/>
                  </a:lnTo>
                  <a:lnTo>
                    <a:pt x="5166359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2"/>
                  </a:lnTo>
                  <a:lnTo>
                    <a:pt x="5089727" y="1767067"/>
                  </a:lnTo>
                  <a:lnTo>
                    <a:pt x="5058908" y="1797886"/>
                  </a:lnTo>
                  <a:lnTo>
                    <a:pt x="5024053" y="1824185"/>
                  </a:lnTo>
                  <a:lnTo>
                    <a:pt x="4985645" y="1845481"/>
                  </a:lnTo>
                  <a:lnTo>
                    <a:pt x="4944166" y="1861291"/>
                  </a:lnTo>
                  <a:lnTo>
                    <a:pt x="4900102" y="1871131"/>
                  </a:lnTo>
                  <a:lnTo>
                    <a:pt x="4853933" y="1874518"/>
                  </a:lnTo>
                  <a:lnTo>
                    <a:pt x="312425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5"/>
                  </a:lnTo>
                  <a:close/>
                </a:path>
              </a:pathLst>
            </a:custGeom>
            <a:ln w="9524">
              <a:solidFill>
                <a:srgbClr val="D1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382451" y="4193031"/>
            <a:ext cx="4093845" cy="60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574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375F"/>
                </a:solidFill>
                <a:latin typeface="Arial"/>
                <a:cs typeface="Arial"/>
              </a:rPr>
              <a:t>Results</a:t>
            </a:r>
            <a:r>
              <a:rPr sz="1600" b="1" spc="-20" dirty="0">
                <a:solidFill>
                  <a:srgbClr val="0F375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375F"/>
                </a:solidFill>
                <a:latin typeface="Arial"/>
                <a:cs typeface="Arial"/>
              </a:rPr>
              <a:t>&amp;</a:t>
            </a:r>
            <a:r>
              <a:rPr sz="1600" b="1" spc="-20" dirty="0">
                <a:solidFill>
                  <a:srgbClr val="0F375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375F"/>
                </a:solidFill>
                <a:latin typeface="Arial"/>
                <a:cs typeface="Arial"/>
              </a:rPr>
              <a:t>reporting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TEST_RESULTS</a:t>
            </a:r>
            <a:r>
              <a:rPr sz="1100" spc="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RESULT_REVISION</a:t>
            </a:r>
            <a:r>
              <a:rPr sz="1100" spc="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/</a:t>
            </a:r>
            <a:r>
              <a:rPr sz="1100" spc="2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F2D3D"/>
                </a:solidFill>
                <a:latin typeface="Arial MT"/>
                <a:cs typeface="Arial MT"/>
              </a:rPr>
              <a:t>CRITICAL</a:t>
            </a:r>
            <a:r>
              <a:rPr sz="1100" spc="-90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ALERTS</a:t>
            </a:r>
            <a:r>
              <a:rPr sz="1100" spc="1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F2D3D"/>
                </a:solidFill>
                <a:latin typeface="Arial MT"/>
                <a:cs typeface="Arial MT"/>
              </a:rPr>
              <a:t>→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LAB_REPORTS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F2D3D"/>
                </a:solidFill>
                <a:latin typeface="Arial MT"/>
                <a:cs typeface="Arial MT"/>
              </a:rPr>
              <a:t>→</a:t>
            </a:r>
            <a:r>
              <a:rPr sz="1100" spc="-25" dirty="0">
                <a:solidFill>
                  <a:srgbClr val="1F2D3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F2D3D"/>
                </a:solidFill>
                <a:latin typeface="Arial MT"/>
                <a:cs typeface="Arial MT"/>
              </a:rPr>
              <a:t>REPORT_DISTRIBUTION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20" y="308457"/>
            <a:ext cx="174371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RISK,</a:t>
            </a:r>
            <a:r>
              <a:rPr sz="800" b="1" spc="70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COMMUNICATION</a:t>
            </a:r>
            <a:r>
              <a:rPr sz="800" b="1" spc="75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6B2"/>
                </a:solidFill>
                <a:latin typeface="Arial"/>
                <a:cs typeface="Arial"/>
              </a:rPr>
              <a:t>&amp;</a:t>
            </a:r>
            <a:r>
              <a:rPr sz="800" b="1" spc="75" dirty="0">
                <a:solidFill>
                  <a:srgbClr val="00A6B2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00A6B2"/>
                </a:solidFill>
                <a:latin typeface="Arial"/>
                <a:cs typeface="Arial"/>
              </a:rPr>
              <a:t>CLOSE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</a:t>
            </a:r>
            <a:r>
              <a:rPr spc="-70" dirty="0"/>
              <a:t> </a:t>
            </a:r>
            <a:r>
              <a:rPr dirty="0"/>
              <a:t>Management</a:t>
            </a:r>
            <a:r>
              <a:rPr spc="-7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dirty="0"/>
              <a:t>Ethical</a:t>
            </a:r>
            <a:r>
              <a:rPr spc="-70" dirty="0"/>
              <a:t> </a:t>
            </a:r>
            <a:r>
              <a:rPr spc="-10" dirty="0"/>
              <a:t>Safeguards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078991"/>
            <a:ext cx="11201400" cy="0"/>
          </a:xfrm>
          <a:custGeom>
            <a:avLst/>
            <a:gdLst/>
            <a:ahLst/>
            <a:cxnLst/>
            <a:rect l="l" t="t" r="r" b="b"/>
            <a:pathLst>
              <a:path w="11201400">
                <a:moveTo>
                  <a:pt x="0" y="0"/>
                </a:moveTo>
                <a:lnTo>
                  <a:pt x="11201399" y="0"/>
                </a:lnTo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1234439"/>
            <a:ext cx="5120640" cy="868680"/>
          </a:xfrm>
          <a:custGeom>
            <a:avLst/>
            <a:gdLst/>
            <a:ahLst/>
            <a:cxnLst/>
            <a:rect l="l" t="t" r="r" b="b"/>
            <a:pathLst>
              <a:path w="5120640" h="868680">
                <a:moveTo>
                  <a:pt x="0" y="73151"/>
                </a:move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5047488" y="0"/>
                </a:lnTo>
                <a:lnTo>
                  <a:pt x="5088072" y="12290"/>
                </a:lnTo>
                <a:lnTo>
                  <a:pt x="5115071" y="45157"/>
                </a:lnTo>
                <a:lnTo>
                  <a:pt x="5120639" y="73151"/>
                </a:lnTo>
                <a:lnTo>
                  <a:pt x="5120639" y="795528"/>
                </a:lnTo>
                <a:lnTo>
                  <a:pt x="5114891" y="824002"/>
                </a:lnTo>
                <a:lnTo>
                  <a:pt x="5099214" y="847254"/>
                </a:lnTo>
                <a:lnTo>
                  <a:pt x="5075962" y="862931"/>
                </a:lnTo>
                <a:lnTo>
                  <a:pt x="5047488" y="868679"/>
                </a:lnTo>
                <a:lnTo>
                  <a:pt x="73151" y="868679"/>
                </a:lnTo>
                <a:lnTo>
                  <a:pt x="44677" y="862931"/>
                </a:lnTo>
                <a:lnTo>
                  <a:pt x="21425" y="847254"/>
                </a:lnTo>
                <a:lnTo>
                  <a:pt x="5748" y="824002"/>
                </a:lnTo>
                <a:lnTo>
                  <a:pt x="0" y="795528"/>
                </a:lnTo>
                <a:lnTo>
                  <a:pt x="0" y="73151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9404" y="1388872"/>
            <a:ext cx="2012314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Incorrect</a:t>
            </a:r>
            <a:r>
              <a:rPr sz="1150" b="1" spc="-50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patient</a:t>
            </a:r>
            <a:r>
              <a:rPr sz="1150" b="1" spc="-50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D9514E"/>
                </a:solidFill>
                <a:latin typeface="Arial"/>
                <a:cs typeface="Arial"/>
              </a:rPr>
              <a:t>information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0268" y="1433576"/>
            <a:ext cx="23926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Identity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 verification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duplicate detection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9359" y="1234439"/>
            <a:ext cx="5120640" cy="868680"/>
          </a:xfrm>
          <a:custGeom>
            <a:avLst/>
            <a:gdLst/>
            <a:ahLst/>
            <a:cxnLst/>
            <a:rect l="l" t="t" r="r" b="b"/>
            <a:pathLst>
              <a:path w="5120640" h="868680">
                <a:moveTo>
                  <a:pt x="0" y="73151"/>
                </a:move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5047488" y="0"/>
                </a:lnTo>
                <a:lnTo>
                  <a:pt x="5088072" y="12290"/>
                </a:lnTo>
                <a:lnTo>
                  <a:pt x="5115071" y="45157"/>
                </a:lnTo>
                <a:lnTo>
                  <a:pt x="5120639" y="73151"/>
                </a:lnTo>
                <a:lnTo>
                  <a:pt x="5120639" y="795528"/>
                </a:lnTo>
                <a:lnTo>
                  <a:pt x="5114891" y="824002"/>
                </a:lnTo>
                <a:lnTo>
                  <a:pt x="5099214" y="847254"/>
                </a:lnTo>
                <a:lnTo>
                  <a:pt x="5075962" y="862931"/>
                </a:lnTo>
                <a:lnTo>
                  <a:pt x="5047488" y="868679"/>
                </a:lnTo>
                <a:lnTo>
                  <a:pt x="73151" y="868679"/>
                </a:lnTo>
                <a:lnTo>
                  <a:pt x="44677" y="862931"/>
                </a:lnTo>
                <a:lnTo>
                  <a:pt x="21425" y="847254"/>
                </a:lnTo>
                <a:lnTo>
                  <a:pt x="5748" y="824002"/>
                </a:lnTo>
                <a:lnTo>
                  <a:pt x="0" y="795528"/>
                </a:lnTo>
                <a:lnTo>
                  <a:pt x="0" y="73151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2964" y="1388872"/>
            <a:ext cx="188722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Wrong</a:t>
            </a:r>
            <a:r>
              <a:rPr sz="1150" b="1" spc="-40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specimen</a:t>
            </a:r>
            <a:r>
              <a:rPr sz="1150" b="1" spc="-35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/</a:t>
            </a:r>
            <a:r>
              <a:rPr sz="1150" b="1" spc="-35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D9514E"/>
                </a:solidFill>
                <a:latin typeface="Arial"/>
                <a:cs typeface="Arial"/>
              </a:rPr>
              <a:t>barcode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3828" y="1433576"/>
            <a:ext cx="23183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Barcode</a:t>
            </a:r>
            <a:r>
              <a:rPr sz="10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scanning</a:t>
            </a:r>
            <a:r>
              <a:rPr sz="10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specimen</a:t>
            </a:r>
            <a:r>
              <a:rPr sz="1050" spc="-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tracking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800" y="2468879"/>
            <a:ext cx="5120640" cy="868680"/>
          </a:xfrm>
          <a:custGeom>
            <a:avLst/>
            <a:gdLst/>
            <a:ahLst/>
            <a:cxnLst/>
            <a:rect l="l" t="t" r="r" b="b"/>
            <a:pathLst>
              <a:path w="5120640" h="868679">
                <a:moveTo>
                  <a:pt x="0" y="73151"/>
                </a:move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5047488" y="0"/>
                </a:lnTo>
                <a:lnTo>
                  <a:pt x="5088072" y="12290"/>
                </a:lnTo>
                <a:lnTo>
                  <a:pt x="5115071" y="45157"/>
                </a:lnTo>
                <a:lnTo>
                  <a:pt x="5120639" y="73151"/>
                </a:lnTo>
                <a:lnTo>
                  <a:pt x="5120639" y="795528"/>
                </a:lnTo>
                <a:lnTo>
                  <a:pt x="5114891" y="824002"/>
                </a:lnTo>
                <a:lnTo>
                  <a:pt x="5099214" y="847254"/>
                </a:lnTo>
                <a:lnTo>
                  <a:pt x="5075962" y="862931"/>
                </a:lnTo>
                <a:lnTo>
                  <a:pt x="5047488" y="868679"/>
                </a:lnTo>
                <a:lnTo>
                  <a:pt x="73151" y="868679"/>
                </a:lnTo>
                <a:lnTo>
                  <a:pt x="44677" y="862931"/>
                </a:lnTo>
                <a:lnTo>
                  <a:pt x="21425" y="847254"/>
                </a:lnTo>
                <a:lnTo>
                  <a:pt x="5748" y="824002"/>
                </a:lnTo>
                <a:lnTo>
                  <a:pt x="0" y="795528"/>
                </a:lnTo>
                <a:lnTo>
                  <a:pt x="0" y="73151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9404" y="2623311"/>
            <a:ext cx="116967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Incorrect</a:t>
            </a:r>
            <a:r>
              <a:rPr sz="1150" b="1" spc="-55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D9514E"/>
                </a:solidFill>
                <a:latin typeface="Arial"/>
                <a:cs typeface="Arial"/>
              </a:rPr>
              <a:t>results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60268" y="2668016"/>
            <a:ext cx="21971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Validation</a:t>
            </a:r>
            <a:r>
              <a:rPr sz="1050" spc="1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1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pathologist</a:t>
            </a:r>
            <a:r>
              <a:rPr sz="1050" spc="1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authorisation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09359" y="2468879"/>
            <a:ext cx="5120640" cy="868680"/>
          </a:xfrm>
          <a:custGeom>
            <a:avLst/>
            <a:gdLst/>
            <a:ahLst/>
            <a:cxnLst/>
            <a:rect l="l" t="t" r="r" b="b"/>
            <a:pathLst>
              <a:path w="5120640" h="868679">
                <a:moveTo>
                  <a:pt x="0" y="73151"/>
                </a:move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5047488" y="0"/>
                </a:lnTo>
                <a:lnTo>
                  <a:pt x="5088072" y="12290"/>
                </a:lnTo>
                <a:lnTo>
                  <a:pt x="5115071" y="45157"/>
                </a:lnTo>
                <a:lnTo>
                  <a:pt x="5120639" y="73151"/>
                </a:lnTo>
                <a:lnTo>
                  <a:pt x="5120639" y="795528"/>
                </a:lnTo>
                <a:lnTo>
                  <a:pt x="5114891" y="824002"/>
                </a:lnTo>
                <a:lnTo>
                  <a:pt x="5099214" y="847254"/>
                </a:lnTo>
                <a:lnTo>
                  <a:pt x="5075962" y="862931"/>
                </a:lnTo>
                <a:lnTo>
                  <a:pt x="5047488" y="868679"/>
                </a:lnTo>
                <a:lnTo>
                  <a:pt x="73151" y="868679"/>
                </a:lnTo>
                <a:lnTo>
                  <a:pt x="44677" y="862931"/>
                </a:lnTo>
                <a:lnTo>
                  <a:pt x="21425" y="847254"/>
                </a:lnTo>
                <a:lnTo>
                  <a:pt x="5748" y="824002"/>
                </a:lnTo>
                <a:lnTo>
                  <a:pt x="0" y="795528"/>
                </a:lnTo>
                <a:lnTo>
                  <a:pt x="0" y="73151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42964" y="2623311"/>
            <a:ext cx="163893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Delayed</a:t>
            </a:r>
            <a:r>
              <a:rPr sz="1150" b="1" spc="-60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critical</a:t>
            </a:r>
            <a:r>
              <a:rPr sz="1150" b="1" spc="-55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D9514E"/>
                </a:solidFill>
                <a:latin typeface="Arial"/>
                <a:cs typeface="Arial"/>
              </a:rPr>
              <a:t>reports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3828" y="2668016"/>
            <a:ext cx="20205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Critical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alerts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 acknowledgement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5800" y="3703320"/>
            <a:ext cx="5120640" cy="868680"/>
          </a:xfrm>
          <a:custGeom>
            <a:avLst/>
            <a:gdLst/>
            <a:ahLst/>
            <a:cxnLst/>
            <a:rect l="l" t="t" r="r" b="b"/>
            <a:pathLst>
              <a:path w="5120640" h="868679">
                <a:moveTo>
                  <a:pt x="0" y="73151"/>
                </a:move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5047488" y="0"/>
                </a:lnTo>
                <a:lnTo>
                  <a:pt x="5088072" y="12290"/>
                </a:lnTo>
                <a:lnTo>
                  <a:pt x="5115071" y="45157"/>
                </a:lnTo>
                <a:lnTo>
                  <a:pt x="5120639" y="73151"/>
                </a:lnTo>
                <a:lnTo>
                  <a:pt x="5120639" y="795528"/>
                </a:lnTo>
                <a:lnTo>
                  <a:pt x="5114891" y="824002"/>
                </a:lnTo>
                <a:lnTo>
                  <a:pt x="5099214" y="847254"/>
                </a:lnTo>
                <a:lnTo>
                  <a:pt x="5075962" y="862931"/>
                </a:lnTo>
                <a:lnTo>
                  <a:pt x="5047488" y="868679"/>
                </a:lnTo>
                <a:lnTo>
                  <a:pt x="73151" y="868679"/>
                </a:lnTo>
                <a:lnTo>
                  <a:pt x="44677" y="862931"/>
                </a:lnTo>
                <a:lnTo>
                  <a:pt x="21425" y="847254"/>
                </a:lnTo>
                <a:lnTo>
                  <a:pt x="5748" y="824002"/>
                </a:lnTo>
                <a:lnTo>
                  <a:pt x="0" y="795528"/>
                </a:lnTo>
                <a:lnTo>
                  <a:pt x="0" y="73151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19404" y="3857752"/>
            <a:ext cx="149288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Unauthorised</a:t>
            </a:r>
            <a:r>
              <a:rPr sz="1150" b="1" spc="-60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D9514E"/>
                </a:solidFill>
                <a:latin typeface="Arial"/>
                <a:cs typeface="Arial"/>
              </a:rPr>
              <a:t>access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0268" y="3902455"/>
            <a:ext cx="22726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RBAC</a:t>
            </a:r>
            <a:r>
              <a:rPr sz="1050" spc="-2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-1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E2B38"/>
                </a:solidFill>
                <a:latin typeface="Arial MT"/>
                <a:cs typeface="Arial MT"/>
              </a:rPr>
              <a:t>MFA</a:t>
            </a:r>
            <a:r>
              <a:rPr sz="1050" spc="-6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-1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encryption</a:t>
            </a:r>
            <a:r>
              <a:rPr sz="1050" spc="-1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audit</a:t>
            </a:r>
            <a:r>
              <a:rPr sz="1050" spc="-1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E2B38"/>
                </a:solidFill>
                <a:latin typeface="Arial MT"/>
                <a:cs typeface="Arial MT"/>
              </a:rPr>
              <a:t>trail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09359" y="3703320"/>
            <a:ext cx="5120640" cy="868680"/>
          </a:xfrm>
          <a:custGeom>
            <a:avLst/>
            <a:gdLst/>
            <a:ahLst/>
            <a:cxnLst/>
            <a:rect l="l" t="t" r="r" b="b"/>
            <a:pathLst>
              <a:path w="5120640" h="868679">
                <a:moveTo>
                  <a:pt x="0" y="73151"/>
                </a:moveTo>
                <a:lnTo>
                  <a:pt x="5748" y="44677"/>
                </a:lnTo>
                <a:lnTo>
                  <a:pt x="21425" y="21425"/>
                </a:lnTo>
                <a:lnTo>
                  <a:pt x="44677" y="5748"/>
                </a:lnTo>
                <a:lnTo>
                  <a:pt x="73151" y="0"/>
                </a:lnTo>
                <a:lnTo>
                  <a:pt x="5047488" y="0"/>
                </a:lnTo>
                <a:lnTo>
                  <a:pt x="5088072" y="12290"/>
                </a:lnTo>
                <a:lnTo>
                  <a:pt x="5115071" y="45157"/>
                </a:lnTo>
                <a:lnTo>
                  <a:pt x="5120639" y="73151"/>
                </a:lnTo>
                <a:lnTo>
                  <a:pt x="5120639" y="795528"/>
                </a:lnTo>
                <a:lnTo>
                  <a:pt x="5114891" y="824002"/>
                </a:lnTo>
                <a:lnTo>
                  <a:pt x="5099214" y="847254"/>
                </a:lnTo>
                <a:lnTo>
                  <a:pt x="5075962" y="862931"/>
                </a:lnTo>
                <a:lnTo>
                  <a:pt x="5047488" y="868679"/>
                </a:lnTo>
                <a:lnTo>
                  <a:pt x="73151" y="868679"/>
                </a:lnTo>
                <a:lnTo>
                  <a:pt x="44677" y="862931"/>
                </a:lnTo>
                <a:lnTo>
                  <a:pt x="21425" y="847254"/>
                </a:lnTo>
                <a:lnTo>
                  <a:pt x="5748" y="824002"/>
                </a:lnTo>
                <a:lnTo>
                  <a:pt x="0" y="795528"/>
                </a:lnTo>
                <a:lnTo>
                  <a:pt x="0" y="73151"/>
                </a:lnTo>
                <a:close/>
              </a:path>
            </a:pathLst>
          </a:custGeom>
          <a:ln w="12699">
            <a:solidFill>
              <a:srgbClr val="D7E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42964" y="3857752"/>
            <a:ext cx="213550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Database</a:t>
            </a:r>
            <a:r>
              <a:rPr sz="1150" b="1" spc="-45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failure</a:t>
            </a:r>
            <a:r>
              <a:rPr sz="1150" b="1" spc="-40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D9514E"/>
                </a:solidFill>
                <a:latin typeface="Arial"/>
                <a:cs typeface="Arial"/>
              </a:rPr>
              <a:t>/</a:t>
            </a:r>
            <a:r>
              <a:rPr sz="1150" b="1" spc="-40" dirty="0">
                <a:solidFill>
                  <a:srgbClr val="D9514E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D9514E"/>
                </a:solidFill>
                <a:latin typeface="Arial"/>
                <a:cs typeface="Arial"/>
              </a:rPr>
              <a:t>ransomware</a:t>
            </a:r>
            <a:endParaRPr sz="115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24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90220" y="6569610"/>
            <a:ext cx="1433195" cy="1219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650" b="1" dirty="0">
                <a:solidFill>
                  <a:srgbClr val="798A9A"/>
                </a:solidFill>
                <a:latin typeface="Arial"/>
                <a:cs typeface="Arial"/>
              </a:rPr>
              <a:t>RISK,</a:t>
            </a:r>
            <a:r>
              <a:rPr sz="650" b="1" spc="65" dirty="0">
                <a:solidFill>
                  <a:srgbClr val="798A9A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798A9A"/>
                </a:solidFill>
                <a:latin typeface="Arial"/>
                <a:cs typeface="Arial"/>
              </a:rPr>
              <a:t>COMMUNICATION</a:t>
            </a:r>
            <a:r>
              <a:rPr sz="650" b="1" spc="65" dirty="0">
                <a:solidFill>
                  <a:srgbClr val="798A9A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798A9A"/>
                </a:solidFill>
                <a:latin typeface="Arial"/>
                <a:cs typeface="Arial"/>
              </a:rPr>
              <a:t>&amp;</a:t>
            </a:r>
            <a:r>
              <a:rPr sz="650" b="1" spc="65" dirty="0">
                <a:solidFill>
                  <a:srgbClr val="798A9A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798A9A"/>
                </a:solidFill>
                <a:latin typeface="Arial"/>
                <a:cs typeface="Arial"/>
              </a:rPr>
              <a:t>CLOSE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3828" y="3902455"/>
            <a:ext cx="17405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Daily</a:t>
            </a:r>
            <a:r>
              <a:rPr sz="1050" spc="-40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backup</a:t>
            </a:r>
            <a:r>
              <a:rPr sz="1050" spc="-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+</a:t>
            </a:r>
            <a:r>
              <a:rPr sz="1050" spc="-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E2B38"/>
                </a:solidFill>
                <a:latin typeface="Arial MT"/>
                <a:cs typeface="Arial MT"/>
              </a:rPr>
              <a:t>recovery</a:t>
            </a:r>
            <a:r>
              <a:rPr sz="1050" spc="-35" dirty="0">
                <a:solidFill>
                  <a:srgbClr val="1E2B3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E2B38"/>
                </a:solidFill>
                <a:latin typeface="Arial MT"/>
                <a:cs typeface="Arial MT"/>
              </a:rPr>
              <a:t>plan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10027" y="5732170"/>
            <a:ext cx="87363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Ethical</a:t>
            </a:r>
            <a:r>
              <a:rPr sz="1300" b="1" spc="-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focus:</a:t>
            </a:r>
            <a:r>
              <a:rPr sz="1300" b="1" spc="1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protect</a:t>
            </a:r>
            <a:r>
              <a:rPr sz="1300" b="1" spc="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sensitive</a:t>
            </a:r>
            <a:r>
              <a:rPr sz="1300" b="1" spc="1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health</a:t>
            </a:r>
            <a:r>
              <a:rPr sz="1300" b="1" spc="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information</a:t>
            </a:r>
            <a:r>
              <a:rPr sz="1300" b="1" spc="1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and</a:t>
            </a:r>
            <a:r>
              <a:rPr sz="1300" b="1" spc="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reduce</a:t>
            </a:r>
            <a:r>
              <a:rPr sz="1300" b="1" spc="1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patient-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safety</a:t>
            </a:r>
            <a:r>
              <a:rPr sz="1300" b="1" spc="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risks</a:t>
            </a:r>
            <a:r>
              <a:rPr sz="1300" b="1" spc="1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through</a:t>
            </a:r>
            <a:r>
              <a:rPr sz="1300" b="1" spc="5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63B66"/>
                </a:solidFill>
                <a:latin typeface="Arial"/>
                <a:cs typeface="Arial"/>
              </a:rPr>
              <a:t>traceable</a:t>
            </a:r>
            <a:r>
              <a:rPr sz="1300" b="1" spc="10" dirty="0">
                <a:solidFill>
                  <a:srgbClr val="063B6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63B66"/>
                </a:solidFill>
                <a:latin typeface="Arial"/>
                <a:cs typeface="Arial"/>
              </a:rPr>
              <a:t>controls.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453</Words>
  <Application>Microsoft Office PowerPoint</Application>
  <PresentationFormat>Custom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MT</vt:lpstr>
      <vt:lpstr>Arial</vt:lpstr>
      <vt:lpstr>Calibri</vt:lpstr>
      <vt:lpstr>Office Theme</vt:lpstr>
      <vt:lpstr>Gantt Chart — Project Timeline</vt:lpstr>
      <vt:lpstr>Functional Requirements — System Coverage</vt:lpstr>
      <vt:lpstr>Database Design — Core Entity Groups</vt:lpstr>
      <vt:lpstr>ERD Overview — Common Group Database Model</vt:lpstr>
      <vt:lpstr>ERD — Core Relationship Walkthrough</vt:lpstr>
      <vt:lpstr>Risk Management &amp; Ethical Safeguards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ACLRS_Capstone_Final_Presentation_Best_Version (1).pptx</dc:title>
  <cp:lastModifiedBy>Kim Ngan Le - K241140</cp:lastModifiedBy>
  <cp:revision>1</cp:revision>
  <dcterms:created xsi:type="dcterms:W3CDTF">2026-08-22T10:21:44Z</dcterms:created>
  <dcterms:modified xsi:type="dcterms:W3CDTF">2026-08-22T10:24:00Z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2026-08-22T00:00:00Z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2026-08-22T00:00:00Z</vt:filetime>
  </property>
</Properties>
</file>